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56" r:id="rId5"/>
    <p:sldId id="257" r:id="rId6"/>
    <p:sldId id="269" r:id="rId7"/>
    <p:sldId id="263" r:id="rId8"/>
    <p:sldId id="265" r:id="rId9"/>
    <p:sldId id="271" r:id="rId10"/>
    <p:sldId id="272" r:id="rId11"/>
    <p:sldId id="273" r:id="rId12"/>
    <p:sldId id="274" r:id="rId13"/>
    <p:sldId id="275" r:id="rId14"/>
    <p:sldId id="276" r:id="rId15"/>
    <p:sldId id="277" r:id="rId16"/>
    <p:sldId id="259" r:id="rId17"/>
    <p:sldId id="278" r:id="rId18"/>
    <p:sldId id="270" r:id="rId19"/>
    <p:sldId id="264" r:id="rId2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9" d="100"/>
          <a:sy n="69" d="100"/>
        </p:scale>
        <p:origin x="780" y="60"/>
      </p:cViewPr>
      <p:guideLst>
        <p:guide orient="horz" pos="2160"/>
        <p:guide pos="3840"/>
      </p:guideLst>
    </p:cSldViewPr>
  </p:slideViewPr>
  <p:notesTextViewPr>
    <p:cViewPr>
      <p:scale>
        <a:sx n="1" d="1"/>
        <a:sy n="1" d="1"/>
      </p:scale>
      <p:origin x="0" y="0"/>
    </p:cViewPr>
  </p:notesTextViewPr>
  <p:notesViewPr>
    <p:cSldViewPr snapToGrid="0" showGuides="1">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F28AB76-B240-4EB5-BBB8-1585E350B0EB}" type="datetime1">
              <a:rPr lang="en-GB" smtClean="0"/>
              <a:t>12/12/2025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6834459-7356-44BF-850D-8B30C4FB3B6B}" type="slidenum">
              <a:rPr lang="en-GB"/>
              <a:t>‹#›</a:t>
            </a:fld>
            <a:endParaRPr lang="en-GB"/>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254F394-CA94-44AB-AA5C-030F15B3DF9F}" type="datetime1">
              <a:rPr lang="en-GB" noProof="0" smtClean="0"/>
              <a:t>12/12/2025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A3C37BE-C303-496D-B5CD-85F2937540FC}" type="slidenum">
              <a:rPr lang="en-GB" noProof="0"/>
              <a:t>‹#›</a:t>
            </a:fld>
            <a:endParaRPr lang="en-GB" noProof="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r>
              <a:rPr lang="en-GB" b="1" i="1">
                <a:latin typeface="Arial" pitchFamily="34" charset="0"/>
                <a:cs typeface="Arial" pitchFamily="34" charset="0"/>
              </a:rPr>
              <a:t>NOTE:</a:t>
            </a:r>
          </a:p>
          <a:p>
            <a:pPr rtl="0"/>
            <a:r>
              <a:rPr lang="en-GB" i="1">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rtlCol="0"/>
          <a:lstStyle/>
          <a:p>
            <a:pPr rtl="0"/>
            <a:fld id="{0A3C37BE-C303-496D-B5CD-85F2937540FC}" type="slidenum">
              <a:rPr lang="en-GB" smtClean="0"/>
              <a:t>1</a:t>
            </a:fld>
            <a:endParaRPr lang="en-GB"/>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0A3C37BE-C303-496D-B5CD-85F2937540FC}" type="slidenum">
              <a:rPr lang="en-GB" smtClean="0"/>
              <a:t>2</a:t>
            </a:fld>
            <a:endParaRPr lang="en-GB"/>
          </a:p>
        </p:txBody>
      </p:sp>
    </p:spTree>
    <p:extLst>
      <p:ext uri="{BB962C8B-B14F-4D97-AF65-F5344CB8AC3E}">
        <p14:creationId xmlns:p14="http://schemas.microsoft.com/office/powerpoint/2010/main" val="1443239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BB18-20B4-6B7F-94B3-FA8118C54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02B5C-CF24-8BA3-4176-37036E69EB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BF1B44-5A28-60FC-F665-07332F43BCF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67372C2-7D97-7DCE-3425-75D71B8BD47A}"/>
              </a:ext>
            </a:extLst>
          </p:cNvPr>
          <p:cNvSpPr>
            <a:spLocks noGrp="1"/>
          </p:cNvSpPr>
          <p:nvPr>
            <p:ph type="sldNum" sz="quarter" idx="5"/>
          </p:nvPr>
        </p:nvSpPr>
        <p:spPr/>
        <p:txBody>
          <a:bodyPr rtlCol="0"/>
          <a:lstStyle/>
          <a:p>
            <a:pPr rtl="0"/>
            <a:fld id="{0A3C37BE-C303-496D-B5CD-85F2937540FC}" type="slidenum">
              <a:rPr lang="en-GB" smtClean="0"/>
              <a:t>3</a:t>
            </a:fld>
            <a:endParaRPr lang="en-GB"/>
          </a:p>
        </p:txBody>
      </p:sp>
    </p:spTree>
    <p:extLst>
      <p:ext uri="{BB962C8B-B14F-4D97-AF65-F5344CB8AC3E}">
        <p14:creationId xmlns:p14="http://schemas.microsoft.com/office/powerpoint/2010/main" val="2196995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0A3C37BE-C303-496D-B5CD-85F2937540FC}" type="slidenum">
              <a:rPr lang="en-GB" smtClean="0"/>
              <a:t>4</a:t>
            </a:fld>
            <a:endParaRPr lang="en-GB"/>
          </a:p>
        </p:txBody>
      </p:sp>
    </p:spTree>
    <p:extLst>
      <p:ext uri="{BB962C8B-B14F-4D97-AF65-F5344CB8AC3E}">
        <p14:creationId xmlns:p14="http://schemas.microsoft.com/office/powerpoint/2010/main" val="2507115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0A3C37BE-C303-496D-B5CD-85F2937540FC}" type="slidenum">
              <a:rPr lang="en-GB" smtClean="0"/>
              <a:t>5</a:t>
            </a:fld>
            <a:endParaRPr lang="en-GB"/>
          </a:p>
        </p:txBody>
      </p:sp>
    </p:spTree>
    <p:extLst>
      <p:ext uri="{BB962C8B-B14F-4D97-AF65-F5344CB8AC3E}">
        <p14:creationId xmlns:p14="http://schemas.microsoft.com/office/powerpoint/2010/main" val="1252285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2979-CEBA-3BD8-B16E-E93A6F932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319BF-001A-ECE5-266A-85DF376174A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C43AA47-3507-1202-A042-0332E8D7140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CE9F77F-0BED-210F-F09A-5D160C33FC99}"/>
              </a:ext>
            </a:extLst>
          </p:cNvPr>
          <p:cNvSpPr>
            <a:spLocks noGrp="1"/>
          </p:cNvSpPr>
          <p:nvPr>
            <p:ph type="sldNum" sz="quarter" idx="5"/>
          </p:nvPr>
        </p:nvSpPr>
        <p:spPr/>
        <p:txBody>
          <a:bodyPr rtlCol="0"/>
          <a:lstStyle/>
          <a:p>
            <a:pPr rtl="0"/>
            <a:fld id="{0A3C37BE-C303-496D-B5CD-85F2937540FC}" type="slidenum">
              <a:rPr lang="en-GB" smtClean="0"/>
              <a:t>6</a:t>
            </a:fld>
            <a:endParaRPr lang="en-GB"/>
          </a:p>
        </p:txBody>
      </p:sp>
    </p:spTree>
    <p:extLst>
      <p:ext uri="{BB962C8B-B14F-4D97-AF65-F5344CB8AC3E}">
        <p14:creationId xmlns:p14="http://schemas.microsoft.com/office/powerpoint/2010/main" val="1403507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D98E-AF35-1A02-B732-20D953376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B5A72-701A-7DD7-7668-A4C2DF79336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4D2A01F-74AD-B3D5-E480-D6FA5D0BD9B7}"/>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2F555092-7540-0CF1-DBBD-685675D2F91C}"/>
              </a:ext>
            </a:extLst>
          </p:cNvPr>
          <p:cNvSpPr>
            <a:spLocks noGrp="1"/>
          </p:cNvSpPr>
          <p:nvPr>
            <p:ph type="sldNum" sz="quarter" idx="5"/>
          </p:nvPr>
        </p:nvSpPr>
        <p:spPr/>
        <p:txBody>
          <a:bodyPr rtlCol="0"/>
          <a:lstStyle/>
          <a:p>
            <a:pPr rtl="0"/>
            <a:fld id="{0A3C37BE-C303-496D-B5CD-85F2937540FC}" type="slidenum">
              <a:rPr lang="en-GB" smtClean="0"/>
              <a:t>7</a:t>
            </a:fld>
            <a:endParaRPr lang="en-GB"/>
          </a:p>
        </p:txBody>
      </p:sp>
    </p:spTree>
    <p:extLst>
      <p:ext uri="{BB962C8B-B14F-4D97-AF65-F5344CB8AC3E}">
        <p14:creationId xmlns:p14="http://schemas.microsoft.com/office/powerpoint/2010/main" val="335207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594-AF4F-A65F-1B25-9FF19BF63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5F1B9-F7ED-7BBE-5FFD-A40381B26A3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0B28DC4-A1B3-5482-B2C4-97A29729885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40B4B4BE-8E1B-6181-CBB1-8EE43D27CC2F}"/>
              </a:ext>
            </a:extLst>
          </p:cNvPr>
          <p:cNvSpPr>
            <a:spLocks noGrp="1"/>
          </p:cNvSpPr>
          <p:nvPr>
            <p:ph type="sldNum" sz="quarter" idx="5"/>
          </p:nvPr>
        </p:nvSpPr>
        <p:spPr/>
        <p:txBody>
          <a:bodyPr rtlCol="0"/>
          <a:lstStyle/>
          <a:p>
            <a:pPr rtl="0"/>
            <a:fld id="{0A3C37BE-C303-496D-B5CD-85F2937540FC}" type="slidenum">
              <a:rPr lang="en-GB" smtClean="0"/>
              <a:t>8</a:t>
            </a:fld>
            <a:endParaRPr lang="en-GB"/>
          </a:p>
        </p:txBody>
      </p:sp>
    </p:spTree>
    <p:extLst>
      <p:ext uri="{BB962C8B-B14F-4D97-AF65-F5344CB8AC3E}">
        <p14:creationId xmlns:p14="http://schemas.microsoft.com/office/powerpoint/2010/main" val="108169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8A26-2677-E1DC-C6D2-CB0A6FCBD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1277C-3222-9A40-3088-25747D39B71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3CF260C-626D-0920-9130-EAF9ECA6E52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6F87C950-9DAE-7CA1-6101-D2290EE8E73D}"/>
              </a:ext>
            </a:extLst>
          </p:cNvPr>
          <p:cNvSpPr>
            <a:spLocks noGrp="1"/>
          </p:cNvSpPr>
          <p:nvPr>
            <p:ph type="sldNum" sz="quarter" idx="5"/>
          </p:nvPr>
        </p:nvSpPr>
        <p:spPr/>
        <p:txBody>
          <a:bodyPr rtlCol="0"/>
          <a:lstStyle/>
          <a:p>
            <a:pPr rtl="0"/>
            <a:fld id="{0A3C37BE-C303-496D-B5CD-85F2937540FC}" type="slidenum">
              <a:rPr lang="en-GB" smtClean="0"/>
              <a:t>9</a:t>
            </a:fld>
            <a:endParaRPr lang="en-GB"/>
          </a:p>
        </p:txBody>
      </p:sp>
    </p:spTree>
    <p:extLst>
      <p:ext uri="{BB962C8B-B14F-4D97-AF65-F5344CB8AC3E}">
        <p14:creationId xmlns:p14="http://schemas.microsoft.com/office/powerpoint/2010/main" val="2185668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F74AC-2AB9-BCB0-A2CB-FBE9B74BE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142E8-82C2-B2FA-7BBE-BF47ED6293F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FBC94C-1F90-9AAD-38D8-E2C3A7CF28E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B3AA3A79-A0E7-3F47-B75B-69933993836B}"/>
              </a:ext>
            </a:extLst>
          </p:cNvPr>
          <p:cNvSpPr>
            <a:spLocks noGrp="1"/>
          </p:cNvSpPr>
          <p:nvPr>
            <p:ph type="sldNum" sz="quarter" idx="5"/>
          </p:nvPr>
        </p:nvSpPr>
        <p:spPr/>
        <p:txBody>
          <a:bodyPr rtlCol="0"/>
          <a:lstStyle/>
          <a:p>
            <a:pPr rtl="0"/>
            <a:fld id="{0A3C37BE-C303-496D-B5CD-85F2937540FC}" type="slidenum">
              <a:rPr lang="en-GB" smtClean="0"/>
              <a:t>10</a:t>
            </a:fld>
            <a:endParaRPr lang="en-GB"/>
          </a:p>
        </p:txBody>
      </p:sp>
    </p:spTree>
    <p:extLst>
      <p:ext uri="{BB962C8B-B14F-4D97-AF65-F5344CB8AC3E}">
        <p14:creationId xmlns:p14="http://schemas.microsoft.com/office/powerpoint/2010/main" val="209055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7A6B-929E-C3BF-FC1A-03F401DCF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45439-41B3-252D-CF1B-34E31F214E9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5C43BEE-7141-8940-29AF-F9310CB32B46}"/>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37F5BB1-3D62-48E3-213E-4C6A426B2B98}"/>
              </a:ext>
            </a:extLst>
          </p:cNvPr>
          <p:cNvSpPr>
            <a:spLocks noGrp="1"/>
          </p:cNvSpPr>
          <p:nvPr>
            <p:ph type="sldNum" sz="quarter" idx="5"/>
          </p:nvPr>
        </p:nvSpPr>
        <p:spPr/>
        <p:txBody>
          <a:bodyPr rtlCol="0"/>
          <a:lstStyle/>
          <a:p>
            <a:pPr rtl="0"/>
            <a:fld id="{0A3C37BE-C303-496D-B5CD-85F2937540FC}" type="slidenum">
              <a:rPr lang="en-GB" smtClean="0"/>
              <a:t>11</a:t>
            </a:fld>
            <a:endParaRPr lang="en-GB"/>
          </a:p>
        </p:txBody>
      </p:sp>
    </p:spTree>
    <p:extLst>
      <p:ext uri="{BB962C8B-B14F-4D97-AF65-F5344CB8AC3E}">
        <p14:creationId xmlns:p14="http://schemas.microsoft.com/office/powerpoint/2010/main" val="3194385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AFEFF-D0A2-1074-B11D-89C1891E9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4789F-E313-605A-F231-F2E4BE20C21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62BB9F1-E6A7-2B4D-F5E1-A38AA9CE799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29B3DF1E-D726-5E2E-626B-5CFD398753AF}"/>
              </a:ext>
            </a:extLst>
          </p:cNvPr>
          <p:cNvSpPr>
            <a:spLocks noGrp="1"/>
          </p:cNvSpPr>
          <p:nvPr>
            <p:ph type="sldNum" sz="quarter" idx="5"/>
          </p:nvPr>
        </p:nvSpPr>
        <p:spPr/>
        <p:txBody>
          <a:bodyPr rtlCol="0"/>
          <a:lstStyle/>
          <a:p>
            <a:pPr rtl="0"/>
            <a:fld id="{0A3C37BE-C303-496D-B5CD-85F2937540FC}" type="slidenum">
              <a:rPr lang="en-GB" smtClean="0"/>
              <a:t>12</a:t>
            </a:fld>
            <a:endParaRPr lang="en-GB"/>
          </a:p>
        </p:txBody>
      </p:sp>
    </p:spTree>
    <p:extLst>
      <p:ext uri="{BB962C8B-B14F-4D97-AF65-F5344CB8AC3E}">
        <p14:creationId xmlns:p14="http://schemas.microsoft.com/office/powerpoint/2010/main" val="4127096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0A3C37BE-C303-496D-B5CD-85F2937540FC}" type="slidenum">
              <a:rPr lang="en-GB" smtClean="0"/>
              <a:t>13</a:t>
            </a:fld>
            <a:endParaRPr lang="en-GB"/>
          </a:p>
        </p:txBody>
      </p:sp>
    </p:spTree>
    <p:extLst>
      <p:ext uri="{BB962C8B-B14F-4D97-AF65-F5344CB8AC3E}">
        <p14:creationId xmlns:p14="http://schemas.microsoft.com/office/powerpoint/2010/main" val="1128917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E839C-08E4-487A-5249-473708161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7B6FB-0E7F-0044-6D5D-8955EAC4658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61C9A9E-5AD8-C4C8-7D21-67B2070B8149}"/>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CEC36EA5-0EBF-435C-B7F6-47BA06476926}"/>
              </a:ext>
            </a:extLst>
          </p:cNvPr>
          <p:cNvSpPr>
            <a:spLocks noGrp="1"/>
          </p:cNvSpPr>
          <p:nvPr>
            <p:ph type="sldNum" sz="quarter" idx="5"/>
          </p:nvPr>
        </p:nvSpPr>
        <p:spPr/>
        <p:txBody>
          <a:bodyPr rtlCol="0"/>
          <a:lstStyle/>
          <a:p>
            <a:pPr rtl="0"/>
            <a:fld id="{0A3C37BE-C303-496D-B5CD-85F2937540FC}" type="slidenum">
              <a:rPr lang="en-GB" smtClean="0"/>
              <a:t>14</a:t>
            </a:fld>
            <a:endParaRPr lang="en-GB"/>
          </a:p>
        </p:txBody>
      </p:sp>
    </p:spTree>
    <p:extLst>
      <p:ext uri="{BB962C8B-B14F-4D97-AF65-F5344CB8AC3E}">
        <p14:creationId xmlns:p14="http://schemas.microsoft.com/office/powerpoint/2010/main" val="2983257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4B066-81B0-28C3-7D53-B52014DE5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6F17E-5114-A394-2CFC-A25A4453BDE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13AACE6-076B-BE1A-1918-A90D90F272D2}"/>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399837F-829F-D9A3-9F70-11D00FACCF8B}"/>
              </a:ext>
            </a:extLst>
          </p:cNvPr>
          <p:cNvSpPr>
            <a:spLocks noGrp="1"/>
          </p:cNvSpPr>
          <p:nvPr>
            <p:ph type="sldNum" sz="quarter" idx="5"/>
          </p:nvPr>
        </p:nvSpPr>
        <p:spPr/>
        <p:txBody>
          <a:bodyPr rtlCol="0"/>
          <a:lstStyle/>
          <a:p>
            <a:pPr rtl="0"/>
            <a:fld id="{0A3C37BE-C303-496D-B5CD-85F2937540FC}" type="slidenum">
              <a:rPr lang="en-GB" smtClean="0"/>
              <a:t>15</a:t>
            </a:fld>
            <a:endParaRPr lang="en-GB"/>
          </a:p>
        </p:txBody>
      </p:sp>
    </p:spTree>
    <p:extLst>
      <p:ext uri="{BB962C8B-B14F-4D97-AF65-F5344CB8AC3E}">
        <p14:creationId xmlns:p14="http://schemas.microsoft.com/office/powerpoint/2010/main" val="4054941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0A3C37BE-C303-496D-B5CD-85F2937540FC}" type="slidenum">
              <a:rPr lang="en-GB" smtClean="0"/>
              <a:t>16</a:t>
            </a:fld>
            <a:endParaRPr lang="en-GB"/>
          </a:p>
        </p:txBody>
      </p:sp>
    </p:spTree>
    <p:extLst>
      <p:ext uri="{BB962C8B-B14F-4D97-AF65-F5344CB8AC3E}">
        <p14:creationId xmlns:p14="http://schemas.microsoft.com/office/powerpoint/2010/main" val="194884345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rtlCol="0" anchor="ctr">
            <a:normAutofit/>
          </a:bodyPr>
          <a:lstStyle>
            <a:lvl1pPr algn="l">
              <a:defRPr sz="4400" cap="all" baseline="0"/>
            </a:lvl1pPr>
          </a:lstStyle>
          <a:p>
            <a:pPr rtl="0"/>
            <a:r>
              <a:rPr lang="en-US" noProof="0"/>
              <a:t>Click to edit Master title style</a:t>
            </a:r>
            <a:endParaRPr lang="en-GB" noProof="0"/>
          </a:p>
        </p:txBody>
      </p:sp>
      <p:sp>
        <p:nvSpPr>
          <p:cNvPr id="3" name="Subtitle 2"/>
          <p:cNvSpPr>
            <a:spLocks noGrp="1"/>
          </p:cNvSpPr>
          <p:nvPr>
            <p:ph type="subTitle" idx="1"/>
          </p:nvPr>
        </p:nvSpPr>
        <p:spPr>
          <a:xfrm>
            <a:off x="1104898" y="4511784"/>
            <a:ext cx="10096501" cy="955565"/>
          </a:xfrm>
        </p:spPr>
        <p:txBody>
          <a:bodyPr rtlCol="0">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Date Placeholder 3"/>
          <p:cNvSpPr>
            <a:spLocks noGrp="1"/>
          </p:cNvSpPr>
          <p:nvPr>
            <p:ph type="dt" sz="half" idx="10"/>
          </p:nvPr>
        </p:nvSpPr>
        <p:spPr/>
        <p:txBody>
          <a:bodyPr rtlCol="0"/>
          <a:lstStyle>
            <a:lvl1pPr>
              <a:defRPr baseline="0">
                <a:solidFill>
                  <a:schemeClr val="tx1">
                    <a:lumMod val="20000"/>
                    <a:lumOff val="80000"/>
                  </a:schemeClr>
                </a:solidFill>
              </a:defRPr>
            </a:lvl1pPr>
          </a:lstStyle>
          <a:p>
            <a:pPr rtl="0"/>
            <a:fld id="{520D413B-D766-4408-A8E4-D0943F95F6A1}" type="datetime1">
              <a:rPr lang="en-GB" noProof="0" smtClean="0"/>
              <a:t>12/12/2025</a:t>
            </a:fld>
            <a:endParaRPr lang="en-GB" noProof="0"/>
          </a:p>
        </p:txBody>
      </p:sp>
      <p:sp>
        <p:nvSpPr>
          <p:cNvPr id="5" name="Footer Placeholder 4"/>
          <p:cNvSpPr>
            <a:spLocks noGrp="1"/>
          </p:cNvSpPr>
          <p:nvPr>
            <p:ph type="ftr" sz="quarter" idx="11"/>
          </p:nvPr>
        </p:nvSpPr>
        <p:spPr/>
        <p:txBody>
          <a:bodyPr rtlCol="0"/>
          <a:lstStyle>
            <a:lvl1pPr>
              <a:defRPr baseline="0">
                <a:solidFill>
                  <a:schemeClr val="tx1">
                    <a:lumMod val="20000"/>
                    <a:lumOff val="80000"/>
                  </a:schemeClr>
                </a:solidFill>
              </a:defRPr>
            </a:lvl1pPr>
          </a:lstStyle>
          <a:p>
            <a:pPr rtl="0"/>
            <a:endParaRPr lang="en-GB" noProof="0"/>
          </a:p>
        </p:txBody>
      </p:sp>
      <p:sp>
        <p:nvSpPr>
          <p:cNvPr id="6" name="Slide Number Placeholder 5"/>
          <p:cNvSpPr>
            <a:spLocks noGrp="1"/>
          </p:cNvSpPr>
          <p:nvPr>
            <p:ph type="sldNum" sz="quarter" idx="12"/>
          </p:nvPr>
        </p:nvSpPr>
        <p:spPr/>
        <p:txBody>
          <a:bodyPr rtlCol="0"/>
          <a:lstStyle>
            <a:lvl1pPr>
              <a:defRPr baseline="0">
                <a:solidFill>
                  <a:schemeClr val="tx1">
                    <a:lumMod val="20000"/>
                    <a:lumOff val="80000"/>
                  </a:schemeClr>
                </a:solidFill>
              </a:defRPr>
            </a:lvl1pPr>
          </a:lstStyle>
          <a:p>
            <a:pPr rtl="0"/>
            <a:fld id="{0FF54DE5-C571-48E8-A5BC-B369434E2F44}" type="slidenum">
              <a:rPr lang="en-GB" noProof="0" smtClean="0"/>
              <a:pPr/>
              <a:t>‹#›</a:t>
            </a:fld>
            <a:endParaRPr lang="en-GB" noProof="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idx="1"/>
          </p:nvPr>
        </p:nvSpPr>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9777120A-BC0F-4DD5-9E46-BB9C1EFA7416}" type="datetime1">
              <a:rPr lang="en-GB" noProof="0" smtClean="0"/>
              <a:t>12/12/2025</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rtlCol="0" anchor="ctr">
            <a:normAutofit/>
          </a:bodyPr>
          <a:lstStyle>
            <a:lvl1pPr algn="l">
              <a:defRPr sz="4400" cap="all" baseline="0"/>
            </a:lvl1pPr>
          </a:lstStyle>
          <a:p>
            <a:pPr rtl="0"/>
            <a:r>
              <a:rPr lang="en-US" noProof="0"/>
              <a:t>Click to edit Master title style</a:t>
            </a:r>
            <a:endParaRPr lang="en-GB" noProof="0"/>
          </a:p>
        </p:txBody>
      </p:sp>
      <p:sp>
        <p:nvSpPr>
          <p:cNvPr id="3" name="Subtitle 2"/>
          <p:cNvSpPr>
            <a:spLocks noGrp="1"/>
          </p:cNvSpPr>
          <p:nvPr>
            <p:ph type="subTitle" idx="1"/>
          </p:nvPr>
        </p:nvSpPr>
        <p:spPr>
          <a:xfrm>
            <a:off x="1104900" y="4511784"/>
            <a:ext cx="5734050" cy="955565"/>
          </a:xfrm>
        </p:spPr>
        <p:txBody>
          <a:bodyPr rtlCol="0">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a:buNone/>
              <a:defRPr/>
            </a:lvl1pPr>
          </a:lstStyle>
          <a:p>
            <a:pPr rtl="0"/>
            <a:r>
              <a:rPr lang="en-US" noProof="0"/>
              <a:t>Click icon to add picture</a:t>
            </a:r>
            <a:endParaRPr lang="en-GB" noProof="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rtlCol="0" anchor="ctr">
            <a:normAutofit/>
          </a:bodyPr>
          <a:lstStyle>
            <a:lvl1pPr>
              <a:defRPr sz="4400" cap="all" baseline="0">
                <a:solidFill>
                  <a:schemeClr val="bg1"/>
                </a:solidFill>
              </a:defRPr>
            </a:lvl1pPr>
          </a:lstStyle>
          <a:p>
            <a:pPr rtl="0"/>
            <a:r>
              <a:rPr lang="en-US" noProof="0"/>
              <a:t>Click to edit Master title style</a:t>
            </a:r>
            <a:endParaRPr lang="en-GB" noProof="0"/>
          </a:p>
        </p:txBody>
      </p:sp>
      <p:sp>
        <p:nvSpPr>
          <p:cNvPr id="3" name="Text Placeholder 2"/>
          <p:cNvSpPr>
            <a:spLocks noGrp="1"/>
          </p:cNvSpPr>
          <p:nvPr>
            <p:ph type="body" idx="1"/>
          </p:nvPr>
        </p:nvSpPr>
        <p:spPr>
          <a:xfrm>
            <a:off x="1104899" y="4655956"/>
            <a:ext cx="10071099" cy="509750"/>
          </a:xfrm>
        </p:spPr>
        <p:txBody>
          <a:bodyPr rtlCol="0">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sp>
        <p:nvSpPr>
          <p:cNvPr id="4" name="Date Placeholder 3"/>
          <p:cNvSpPr>
            <a:spLocks noGrp="1"/>
          </p:cNvSpPr>
          <p:nvPr>
            <p:ph type="dt" sz="half" idx="10"/>
          </p:nvPr>
        </p:nvSpPr>
        <p:spPr/>
        <p:txBody>
          <a:bodyPr rtlCol="0"/>
          <a:lstStyle/>
          <a:p>
            <a:pPr rtl="0"/>
            <a:fld id="{8E899421-673F-4CCD-A44F-8F8B5E53A971}" type="datetime1">
              <a:rPr lang="en-GB" noProof="0" smtClean="0"/>
              <a:t>12/12/2025</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p:nvPr>
        </p:nvSpPr>
        <p:spPr>
          <a:xfrm>
            <a:off x="1104900" y="1600200"/>
            <a:ext cx="4914900" cy="4571999"/>
          </a:xfrm>
        </p:spPr>
        <p:txBody>
          <a:bodyPr rtlCol="0"/>
          <a:lstStyle>
            <a:lvl5pPr>
              <a:defRPr/>
            </a:lvl5pPr>
            <a:lvl6pPr>
              <a:defRPr/>
            </a:lvl6pPr>
            <a:lvl7pPr>
              <a:defRPr/>
            </a:lvl7pPr>
            <a:lvl8pPr>
              <a:defRPr/>
            </a:lvl8pPr>
            <a:lvl9pPr>
              <a:defRPr/>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p:cNvSpPr>
            <a:spLocks noGrp="1"/>
          </p:cNvSpPr>
          <p:nvPr>
            <p:ph sz="half" idx="2"/>
          </p:nvPr>
        </p:nvSpPr>
        <p:spPr>
          <a:xfrm>
            <a:off x="6172200" y="1600200"/>
            <a:ext cx="4914900" cy="4571999"/>
          </a:xfrm>
        </p:spPr>
        <p:txBody>
          <a:bodyPr rtlCol="0"/>
          <a:lstStyle>
            <a:lvl5pPr>
              <a:defRPr/>
            </a:lvl5pPr>
            <a:lvl6pPr>
              <a:defRPr/>
            </a:lvl6pPr>
            <a:lvl7pPr>
              <a:defRPr/>
            </a:lvl7pPr>
            <a:lvl8pPr>
              <a:defRPr/>
            </a:lvl8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p:txBody>
          <a:bodyPr rtlCol="0"/>
          <a:lstStyle/>
          <a:p>
            <a:pPr rtl="0"/>
            <a:fld id="{CCDFEFAA-F37E-4197-82A3-46DA1629A2E1}" type="datetime1">
              <a:rPr lang="en-GB" noProof="0" smtClean="0"/>
              <a:t>12/12/2025</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Text Placeholder 2"/>
          <p:cNvSpPr>
            <a:spLocks noGrp="1"/>
          </p:cNvSpPr>
          <p:nvPr>
            <p:ph type="body" idx="1"/>
          </p:nvPr>
        </p:nvSpPr>
        <p:spPr>
          <a:xfrm>
            <a:off x="1104900" y="1600200"/>
            <a:ext cx="4919472" cy="823912"/>
          </a:xfrm>
        </p:spPr>
        <p:txBody>
          <a:bodyPr rtlCol="0"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p:cNvSpPr>
            <a:spLocks noGrp="1"/>
          </p:cNvSpPr>
          <p:nvPr>
            <p:ph sz="half" idx="2"/>
          </p:nvPr>
        </p:nvSpPr>
        <p:spPr>
          <a:xfrm>
            <a:off x="1104900" y="2424112"/>
            <a:ext cx="4919472" cy="3748088"/>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p:cNvSpPr>
            <a:spLocks noGrp="1"/>
          </p:cNvSpPr>
          <p:nvPr>
            <p:ph type="body" sz="quarter" idx="3"/>
          </p:nvPr>
        </p:nvSpPr>
        <p:spPr>
          <a:xfrm>
            <a:off x="6166110" y="1600200"/>
            <a:ext cx="4919472" cy="823912"/>
          </a:xfrm>
        </p:spPr>
        <p:txBody>
          <a:bodyPr rtlCol="0"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p:cNvSpPr>
            <a:spLocks noGrp="1"/>
          </p:cNvSpPr>
          <p:nvPr>
            <p:ph sz="quarter" idx="4"/>
          </p:nvPr>
        </p:nvSpPr>
        <p:spPr>
          <a:xfrm>
            <a:off x="6166110" y="2424112"/>
            <a:ext cx="4919472" cy="3748088"/>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p:cNvSpPr>
            <a:spLocks noGrp="1"/>
          </p:cNvSpPr>
          <p:nvPr>
            <p:ph type="dt" sz="half" idx="10"/>
          </p:nvPr>
        </p:nvSpPr>
        <p:spPr/>
        <p:txBody>
          <a:bodyPr rtlCol="0"/>
          <a:lstStyle/>
          <a:p>
            <a:pPr rtl="0"/>
            <a:fld id="{6818E844-891C-40D1-97EA-9B7B72C7EA69}" type="datetime1">
              <a:rPr lang="en-GB" noProof="0" smtClean="0"/>
              <a:t>12/12/2025</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64E1ADA3-2D10-4D19-9D01-17EEDB2CF09C}" type="datetime1">
              <a:rPr lang="en-GB" noProof="0" smtClean="0"/>
              <a:t>12/12/2025</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7B1607E5-5283-43B8-A7FC-26C1F3C9FF56}" type="datetime1">
              <a:rPr lang="en-GB" noProof="0" smtClean="0"/>
              <a:t>12/12/2025</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b"/>
          <a:lstStyle>
            <a:lvl1pPr>
              <a:defRPr sz="3200"/>
            </a:lvl1pPr>
          </a:lstStyle>
          <a:p>
            <a:pPr rtl="0"/>
            <a:r>
              <a:rPr lang="en-US" noProof="0"/>
              <a:t>Click to edit Master title style</a:t>
            </a:r>
            <a:endParaRPr lang="en-GB" noProof="0"/>
          </a:p>
        </p:txBody>
      </p:sp>
      <p:sp>
        <p:nvSpPr>
          <p:cNvPr id="4" name="Text Placeholder 3"/>
          <p:cNvSpPr>
            <a:spLocks noGrp="1"/>
          </p:cNvSpPr>
          <p:nvPr>
            <p:ph type="body" sz="half" idx="2"/>
          </p:nvPr>
        </p:nvSpPr>
        <p:spPr>
          <a:xfrm>
            <a:off x="1104900" y="1600200"/>
            <a:ext cx="4384548" cy="4572000"/>
          </a:xfrm>
        </p:spPr>
        <p:txBody>
          <a:bodyPr rtlCol="0">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3" name="Content Placeholder 2"/>
          <p:cNvSpPr>
            <a:spLocks noGrp="1"/>
          </p:cNvSpPr>
          <p:nvPr>
            <p:ph idx="1"/>
          </p:nvPr>
        </p:nvSpPr>
        <p:spPr>
          <a:xfrm>
            <a:off x="5641848" y="1600199"/>
            <a:ext cx="5445252" cy="4572001"/>
          </a:xfrm>
        </p:spPr>
        <p:txBody>
          <a:bodyPr rtlCol="0">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p:txBody>
          <a:bodyPr rtlCol="0"/>
          <a:lstStyle/>
          <a:p>
            <a:pPr rtl="0"/>
            <a:fld id="{C181A209-F933-43E2-BD0A-1CB83143268B}" type="datetime1">
              <a:rPr lang="en-GB" noProof="0" smtClean="0"/>
              <a:t>12/12/2025</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b"/>
          <a:lstStyle>
            <a:lvl1pPr>
              <a:defRPr sz="3200"/>
            </a:lvl1pPr>
          </a:lstStyle>
          <a:p>
            <a:pPr rtl="0"/>
            <a:r>
              <a:rPr lang="en-US" noProof="0"/>
              <a:t>Click to edit Master title style</a:t>
            </a:r>
            <a:endParaRPr lang="en-GB" noProof="0"/>
          </a:p>
        </p:txBody>
      </p:sp>
      <p:sp>
        <p:nvSpPr>
          <p:cNvPr id="4" name="Text Placeholder 3"/>
          <p:cNvSpPr>
            <a:spLocks noGrp="1"/>
          </p:cNvSpPr>
          <p:nvPr>
            <p:ph type="body" sz="half" idx="2"/>
          </p:nvPr>
        </p:nvSpPr>
        <p:spPr>
          <a:xfrm>
            <a:off x="1104900" y="1600200"/>
            <a:ext cx="3396996" cy="4572000"/>
          </a:xfrm>
        </p:spPr>
        <p:txBody>
          <a:bodyPr rtlCol="0">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en-GB" noProof="0"/>
          </a:p>
        </p:txBody>
      </p:sp>
      <p:sp>
        <p:nvSpPr>
          <p:cNvPr id="5" name="Date Placeholder 4"/>
          <p:cNvSpPr>
            <a:spLocks noGrp="1"/>
          </p:cNvSpPr>
          <p:nvPr>
            <p:ph type="dt" sz="half" idx="10"/>
          </p:nvPr>
        </p:nvSpPr>
        <p:spPr/>
        <p:txBody>
          <a:bodyPr rtlCol="0"/>
          <a:lstStyle/>
          <a:p>
            <a:pPr rtl="0"/>
            <a:fld id="{844ABC67-7F5E-4178-9DFA-02F5BA36DBD3}" type="datetime1">
              <a:rPr lang="en-GB" noProof="0" smtClean="0"/>
              <a:t>12/12/2025</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AAAFE8D9-1727-42D1-B2C4-F4FCDE24444F}" type="datetime1">
              <a:rPr lang="en-GB" noProof="0" smtClean="0"/>
              <a:t>12/12/2025</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0FF54DE5-C571-48E8-A5BC-B369434E2F44}" type="slidenum">
              <a:rPr lang="en-GB" noProof="0"/>
              <a:t>‹#›</a:t>
            </a:fld>
            <a:endParaRPr lang="en-GB" noProof="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a:xfrm>
            <a:off x="1104900" y="365125"/>
            <a:ext cx="8098896" cy="5811838"/>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5FF0FE9A-6841-4A36-9540-864C6A1F3EBE}" type="datetime1">
              <a:rPr lang="en-GB" noProof="0" smtClean="0"/>
              <a:t>12/12/2025</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0FF54DE5-C571-48E8-A5BC-B369434E2F44}" type="slidenum">
              <a:rPr lang="en-GB" noProof="0"/>
              <a:t>‹#›</a:t>
            </a:fld>
            <a:endParaRPr lang="en-GB" noProof="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a:p>
            <a:pPr lvl="5" rtl="0"/>
            <a:r>
              <a:rPr lang="en-GB" noProof="0"/>
              <a:t>Sixth level</a:t>
            </a:r>
          </a:p>
          <a:p>
            <a:pPr lvl="6" rtl="0"/>
            <a:r>
              <a:rPr lang="en-GB" noProof="0"/>
              <a:t>Seventh level</a:t>
            </a:r>
          </a:p>
          <a:p>
            <a:pPr lvl="7" rtl="0"/>
            <a:r>
              <a:rPr lang="en-GB" noProof="0"/>
              <a:t>Eighth level</a:t>
            </a:r>
          </a:p>
          <a:p>
            <a:pPr lvl="8" rtl="0"/>
            <a:r>
              <a:rPr lang="en-GB" noProof="0"/>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pPr rtl="0"/>
            <a:fld id="{6BC1B948-4E86-4900-BCE2-2386EC9BC47E}" type="datetime1">
              <a:rPr lang="en-GB" noProof="0" smtClean="0"/>
              <a:t>12/12/2025</a:t>
            </a:fld>
            <a:endParaRPr lang="en-GB" noProof="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pPr rtl="0"/>
            <a:endParaRPr lang="en-GB" noProof="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pPr rtl="0"/>
            <a:fld id="{0FF54DE5-C571-48E8-A5BC-B369434E2F44}" type="slidenum">
              <a:rPr lang="en-GB" noProof="0" smtClean="0"/>
              <a:pPr/>
              <a:t>‹#›</a:t>
            </a:fld>
            <a:endParaRPr lang="en-GB" noProof="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0" y="2161309"/>
            <a:ext cx="6884081" cy="2424546"/>
          </a:xfrm>
        </p:spPr>
        <p:txBody>
          <a:bodyPr rtlCol="0" anchor="ctr">
            <a:normAutofit fontScale="90000"/>
          </a:bodyPr>
          <a:lstStyle/>
          <a:p>
            <a:pPr algn="ctr" rtl="0"/>
            <a:r>
              <a:rPr lang="en-GB" dirty="0"/>
              <a:t>Comparative study and analysis of  dimensionality reduction techniques</a:t>
            </a:r>
          </a:p>
        </p:txBody>
      </p:sp>
      <p:sp>
        <p:nvSpPr>
          <p:cNvPr id="7" name="Subtitle 6"/>
          <p:cNvSpPr>
            <a:spLocks noGrp="1"/>
          </p:cNvSpPr>
          <p:nvPr>
            <p:ph type="subTitle" idx="1"/>
          </p:nvPr>
        </p:nvSpPr>
        <p:spPr>
          <a:xfrm>
            <a:off x="2812472" y="5985163"/>
            <a:ext cx="6567055" cy="692727"/>
          </a:xfrm>
        </p:spPr>
        <p:txBody>
          <a:bodyPr rtlCol="0">
            <a:noAutofit/>
          </a:bodyPr>
          <a:lstStyle/>
          <a:p>
            <a:pPr algn="ctr" rtl="0">
              <a:lnSpc>
                <a:spcPct val="100000"/>
              </a:lnSpc>
            </a:pPr>
            <a:r>
              <a:rPr lang="en-GB" sz="2400" b="1" dirty="0">
                <a:solidFill>
                  <a:schemeClr val="bg2">
                    <a:lumMod val="50000"/>
                  </a:schemeClr>
                </a:solidFill>
                <a:latin typeface="Times New Roman" panose="02020603050405020304" pitchFamily="18" charset="0"/>
                <a:cs typeface="Times New Roman" panose="02020603050405020304" pitchFamily="18" charset="0"/>
              </a:rPr>
              <a:t>Joshua Ayanlowo</a:t>
            </a:r>
            <a:r>
              <a:rPr lang="en-GB" sz="2400" b="1" dirty="0">
                <a:solidFill>
                  <a:schemeClr val="bg2"/>
                </a:solidFill>
                <a:latin typeface="Times New Roman" panose="02020603050405020304" pitchFamily="18" charset="0"/>
                <a:cs typeface="Times New Roman" panose="02020603050405020304" pitchFamily="18" charset="0"/>
              </a:rPr>
              <a:t> | </a:t>
            </a:r>
            <a:r>
              <a:rPr lang="en-GB" sz="2400" b="1" dirty="0">
                <a:solidFill>
                  <a:schemeClr val="bg2">
                    <a:lumMod val="50000"/>
                  </a:schemeClr>
                </a:solidFill>
                <a:latin typeface="Times New Roman" panose="02020603050405020304" pitchFamily="18" charset="0"/>
                <a:cs typeface="Times New Roman" panose="02020603050405020304" pitchFamily="18" charset="0"/>
              </a:rPr>
              <a:t>Mariama Musa</a:t>
            </a:r>
            <a:r>
              <a:rPr lang="en-GB" sz="2400" b="1" dirty="0">
                <a:solidFill>
                  <a:schemeClr val="bg2"/>
                </a:solidFill>
                <a:latin typeface="Times New Roman" panose="02020603050405020304" pitchFamily="18" charset="0"/>
                <a:cs typeface="Times New Roman" panose="02020603050405020304" pitchFamily="18" charset="0"/>
              </a:rPr>
              <a:t> | </a:t>
            </a:r>
            <a:r>
              <a:rPr lang="en-GB" sz="2400" b="1" dirty="0">
                <a:solidFill>
                  <a:schemeClr val="bg2">
                    <a:lumMod val="50000"/>
                  </a:schemeClr>
                </a:solidFill>
                <a:latin typeface="Times New Roman" panose="02020603050405020304" pitchFamily="18" charset="0"/>
                <a:cs typeface="Times New Roman" panose="02020603050405020304" pitchFamily="18" charset="0"/>
              </a:rPr>
              <a:t>Steve </a:t>
            </a:r>
            <a:r>
              <a:rPr lang="en-GB" sz="2400" b="1" dirty="0" err="1">
                <a:solidFill>
                  <a:schemeClr val="bg2">
                    <a:lumMod val="50000"/>
                  </a:schemeClr>
                </a:solidFill>
                <a:latin typeface="Times New Roman" panose="02020603050405020304" pitchFamily="18" charset="0"/>
                <a:cs typeface="Times New Roman" panose="02020603050405020304" pitchFamily="18" charset="0"/>
              </a:rPr>
              <a:t>Delafu</a:t>
            </a:r>
            <a:endParaRPr lang="en-GB" sz="2400" b="1"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a:xfrm>
            <a:off x="6884081" y="1310655"/>
            <a:ext cx="5307919" cy="4286931"/>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104900" y="595744"/>
            <a:ext cx="9980682" cy="577417"/>
          </a:xfrm>
        </p:spPr>
        <p:txBody>
          <a:bodyPr rtlCol="0"/>
          <a:lstStyle/>
          <a:p>
            <a:pPr rtl="0"/>
            <a:r>
              <a:rPr lang="en-GB" dirty="0"/>
              <a:t>Introduction</a:t>
            </a:r>
          </a:p>
        </p:txBody>
      </p:sp>
      <p:sp>
        <p:nvSpPr>
          <p:cNvPr id="14" name="Content Placeholder 13"/>
          <p:cNvSpPr>
            <a:spLocks noGrp="1"/>
          </p:cNvSpPr>
          <p:nvPr>
            <p:ph idx="1"/>
          </p:nvPr>
        </p:nvSpPr>
        <p:spPr>
          <a:xfrm>
            <a:off x="152405" y="1399309"/>
            <a:ext cx="11890663" cy="5458691"/>
          </a:xfrm>
        </p:spPr>
        <p:txBody>
          <a:bodyPr rtlCol="0">
            <a:normAutofit/>
          </a:bodyPr>
          <a:lstStyle/>
          <a:p>
            <a:pPr marL="0" indent="0" algn="just">
              <a:lnSpc>
                <a:spcPct val="100000"/>
              </a:lnSpc>
              <a:buNone/>
            </a:pPr>
            <a:r>
              <a:rPr lang="en-GB" sz="1800" dirty="0">
                <a:solidFill>
                  <a:schemeClr val="tx1">
                    <a:lumMod val="50000"/>
                  </a:schemeClr>
                </a:solidFill>
                <a:latin typeface="Times New Roman" panose="02020603050405020304" pitchFamily="18" charset="0"/>
                <a:cs typeface="Times New Roman" panose="02020603050405020304" pitchFamily="18" charset="0"/>
              </a:rPr>
              <a:t>Machine learning practitioners are often confronted with high‑dimensional feature spaces in which redundancy and noise impede modelling, visualization, and inference. Dimensionality reduction (DR) offers principled mappings from the original feature space to compact representations that retain salient structure. Foundational linear techniques such as Principal Component Analysis (PCA) minimize least‑squares reconstruction error on centred data and provide variance‑maximizing orthogonal bases, thereby delivering strong performance whenever data are well‑approximated by linear subspaces. In contrast, non‑linear DR methods seek embeddings that preserve manifold geometry beyond linear correlations, enabling faithful representations of curved or multi‑modal structures that defy linear projection. (Gracia et al., 2014).</a:t>
            </a:r>
          </a:p>
          <a:p>
            <a:pPr marL="0" indent="0" algn="just">
              <a:lnSpc>
                <a:spcPct val="100000"/>
              </a:lnSpc>
              <a:buNone/>
            </a:pPr>
            <a:r>
              <a:rPr lang="en-US" sz="1800" dirty="0" err="1">
                <a:solidFill>
                  <a:schemeClr val="tx1">
                    <a:lumMod val="50000"/>
                  </a:schemeClr>
                </a:solidFill>
                <a:latin typeface="Times New Roman" panose="02020603050405020304" pitchFamily="18" charset="0"/>
                <a:cs typeface="Times New Roman" panose="02020603050405020304" pitchFamily="18" charset="0"/>
              </a:rPr>
              <a:t>Velliangiri</a:t>
            </a:r>
            <a:r>
              <a:rPr lang="en-US" sz="1800" dirty="0">
                <a:solidFill>
                  <a:schemeClr val="tx1">
                    <a:lumMod val="50000"/>
                  </a:schemeClr>
                </a:solidFill>
                <a:latin typeface="Times New Roman" panose="02020603050405020304" pitchFamily="18" charset="0"/>
                <a:cs typeface="Times New Roman" panose="02020603050405020304" pitchFamily="18" charset="0"/>
              </a:rPr>
              <a:t> et al., (2019), examines DR in terms of computational efficiency, noise attenuation, and feature compactness, highlighting the importance of both feature extraction (transforming variables) and feature selection (identifying informative subsets) across applications ranging from medical imaging and bio-signals to text and remote sensing. DR is documented to reduce training time, remove redundancy, and improve classification accuracy, especially when integrated with deep learning or kernelized models.</a:t>
            </a:r>
          </a:p>
          <a:p>
            <a:pPr marL="0" indent="0" algn="just">
              <a:lnSpc>
                <a:spcPct val="100000"/>
              </a:lnSpc>
              <a:buNone/>
            </a:pPr>
            <a:r>
              <a:rPr lang="en-US" sz="1800" dirty="0">
                <a:solidFill>
                  <a:schemeClr val="tx1">
                    <a:lumMod val="50000"/>
                  </a:schemeClr>
                </a:solidFill>
                <a:latin typeface="Times New Roman" panose="02020603050405020304" pitchFamily="18" charset="0"/>
                <a:cs typeface="Times New Roman" panose="02020603050405020304" pitchFamily="18" charset="0"/>
              </a:rPr>
              <a:t>Despite this progress, comparative evaluation of dimensionality reduction methods remains challenging because algorithms optimize different objectives (variance, neighborhood preservation, or probabilistic similarity) and exhibit trade-offs between global structure and local topology fidelity. Recent studies advocate multi-criteria evaluation frameworks that combine reconstruction accuracy, neighborhood preservation, and computational efficiency to assess the quality of transformed feature spaces and guide method selection.(Rastogi et al., 2023).</a:t>
            </a:r>
            <a:endParaRPr lang="en-GB" sz="1800"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2D94-9D19-FB59-8371-77EAE8AB6C38}"/>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A3EFAF0-7A81-703C-B4AC-941D05882F96}"/>
              </a:ext>
            </a:extLst>
          </p:cNvPr>
          <p:cNvSpPr>
            <a:spLocks noGrp="1"/>
          </p:cNvSpPr>
          <p:nvPr>
            <p:ph type="title"/>
          </p:nvPr>
        </p:nvSpPr>
        <p:spPr>
          <a:xfrm>
            <a:off x="1104900" y="595744"/>
            <a:ext cx="9980682" cy="577417"/>
          </a:xfrm>
        </p:spPr>
        <p:txBody>
          <a:bodyPr rtlCol="0"/>
          <a:lstStyle/>
          <a:p>
            <a:pPr rtl="0"/>
            <a:r>
              <a:rPr lang="en-GB" dirty="0"/>
              <a:t>Introduction</a:t>
            </a:r>
          </a:p>
        </p:txBody>
      </p:sp>
      <p:sp>
        <p:nvSpPr>
          <p:cNvPr id="14" name="Content Placeholder 13">
            <a:extLst>
              <a:ext uri="{FF2B5EF4-FFF2-40B4-BE49-F238E27FC236}">
                <a16:creationId xmlns:a16="http://schemas.microsoft.com/office/drawing/2014/main" id="{73F9E891-C0BD-243A-0A11-37E51EDE7FE7}"/>
              </a:ext>
            </a:extLst>
          </p:cNvPr>
          <p:cNvSpPr>
            <a:spLocks noGrp="1"/>
          </p:cNvSpPr>
          <p:nvPr>
            <p:ph idx="1"/>
          </p:nvPr>
        </p:nvSpPr>
        <p:spPr>
          <a:xfrm>
            <a:off x="277091" y="1399309"/>
            <a:ext cx="11613572" cy="4759037"/>
          </a:xfrm>
        </p:spPr>
        <p:txBody>
          <a:bodyPr rtlCol="0"/>
          <a:lstStyle/>
          <a:p>
            <a:pPr marL="0" indent="0" algn="just">
              <a:lnSpc>
                <a:spcPct val="100000"/>
              </a:lnSpc>
              <a:buNone/>
            </a:pPr>
            <a:r>
              <a:rPr lang="en-US" sz="1800" dirty="0">
                <a:solidFill>
                  <a:schemeClr val="tx1">
                    <a:lumMod val="50000"/>
                  </a:schemeClr>
                </a:solidFill>
                <a:latin typeface="Times New Roman" panose="02020603050405020304" pitchFamily="18" charset="0"/>
                <a:cs typeface="Times New Roman" panose="02020603050405020304" pitchFamily="18" charset="0"/>
              </a:rPr>
              <a:t>In this context, our study contributes a controlled, end‑to‑end comparative analysis using three data regimes:</a:t>
            </a:r>
          </a:p>
          <a:p>
            <a:pPr algn="just">
              <a:lnSpc>
                <a:spcPct val="1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linear data generated from latent linear mixtures</a:t>
            </a:r>
          </a:p>
          <a:p>
            <a:pPr algn="just">
              <a:lnSpc>
                <a:spcPct val="1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non‑linear data with curved manifold structure and element‑wise non‑linearities, and </a:t>
            </a:r>
          </a:p>
          <a:p>
            <a:pPr algn="just">
              <a:lnSpc>
                <a:spcPct val="1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semi‑linear data mixing linear and non‑linear mechanisms. </a:t>
            </a:r>
          </a:p>
          <a:p>
            <a:pPr marL="0" indent="0" algn="just">
              <a:lnSpc>
                <a:spcPct val="100000"/>
              </a:lnSpc>
              <a:buNone/>
            </a:pPr>
            <a:r>
              <a:rPr lang="en-US" sz="1800" dirty="0">
                <a:solidFill>
                  <a:schemeClr val="tx1">
                    <a:lumMod val="50000"/>
                  </a:schemeClr>
                </a:solidFill>
                <a:latin typeface="Times New Roman" panose="02020603050405020304" pitchFamily="18" charset="0"/>
                <a:cs typeface="Times New Roman" panose="02020603050405020304" pitchFamily="18" charset="0"/>
              </a:rPr>
              <a:t>We evaluate representative linear and non‑linear methods across target dimensions, using a uniform reconstruction policy (native inverse transform when available, otherwise least‑squares decoding from the embedding) and a panel of metrics. Our design aligns comparison to the generative assumptions – linear methods on linear data, manifold learners on non‑linear data – and then tests robustness on semi‑linear mixtures typical of real‑world data</a:t>
            </a:r>
          </a:p>
          <a:p>
            <a:pPr marL="0" indent="0" algn="just">
              <a:buNone/>
            </a:pPr>
            <a:endParaRPr lang="en-US" dirty="0">
              <a:solidFill>
                <a:schemeClr val="tx1">
                  <a:lumMod val="50000"/>
                </a:schemeClr>
              </a:solidFill>
              <a:latin typeface="Times New Roman" panose="02020603050405020304" pitchFamily="18" charset="0"/>
              <a:cs typeface="Times New Roman" panose="02020603050405020304" pitchFamily="18" charset="0"/>
            </a:endParaRPr>
          </a:p>
          <a:p>
            <a:pPr marL="0" indent="0" algn="just">
              <a:buNone/>
            </a:pPr>
            <a:endParaRPr lang="en-GB" dirty="0"/>
          </a:p>
        </p:txBody>
      </p:sp>
    </p:spTree>
    <p:extLst>
      <p:ext uri="{BB962C8B-B14F-4D97-AF65-F5344CB8AC3E}">
        <p14:creationId xmlns:p14="http://schemas.microsoft.com/office/powerpoint/2010/main" val="4218152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Problem Statement</a:t>
            </a:r>
          </a:p>
        </p:txBody>
      </p:sp>
      <p:sp>
        <p:nvSpPr>
          <p:cNvPr id="5" name="TextBox 4">
            <a:extLst>
              <a:ext uri="{FF2B5EF4-FFF2-40B4-BE49-F238E27FC236}">
                <a16:creationId xmlns:a16="http://schemas.microsoft.com/office/drawing/2014/main" id="{5DA866E0-1B57-37D4-0432-F072256EC2E8}"/>
              </a:ext>
            </a:extLst>
          </p:cNvPr>
          <p:cNvSpPr txBox="1"/>
          <p:nvPr/>
        </p:nvSpPr>
        <p:spPr>
          <a:xfrm>
            <a:off x="180109" y="1333323"/>
            <a:ext cx="11887200" cy="5444054"/>
          </a:xfrm>
          <a:prstGeom prst="rect">
            <a:avLst/>
          </a:prstGeom>
          <a:noFill/>
        </p:spPr>
        <p:txBody>
          <a:bodyPr wrap="square">
            <a:spAutoFit/>
          </a:bodyPr>
          <a:lstStyle/>
          <a:p>
            <a:pPr algn="just">
              <a:lnSpc>
                <a:spcPct val="150000"/>
              </a:lnSpc>
            </a:pPr>
            <a:r>
              <a:rPr lang="en-US" dirty="0">
                <a:solidFill>
                  <a:schemeClr val="tx1">
                    <a:lumMod val="75000"/>
                  </a:schemeClr>
                </a:solidFill>
                <a:latin typeface="Times New Roman" panose="02020603050405020304" pitchFamily="18" charset="0"/>
                <a:cs typeface="Times New Roman" panose="02020603050405020304" pitchFamily="18" charset="0"/>
              </a:rPr>
              <a:t>High-dimensional datasets often contain redundant, correlated, or non-informative features that degrade model performance, and complicate visualization. While numerous dimensionality reduction (DR) algorithms exist, ranging from linear projections (e.g., PCA) to non-linear manifold learners (e.g., </a:t>
            </a:r>
            <a:r>
              <a:rPr lang="en-US" dirty="0" err="1">
                <a:solidFill>
                  <a:schemeClr val="tx1">
                    <a:lumMod val="75000"/>
                  </a:schemeClr>
                </a:solidFill>
                <a:latin typeface="Times New Roman" panose="02020603050405020304" pitchFamily="18" charset="0"/>
                <a:cs typeface="Times New Roman" panose="02020603050405020304" pitchFamily="18" charset="0"/>
              </a:rPr>
              <a:t>Isomap</a:t>
            </a:r>
            <a:r>
              <a:rPr lang="en-US" dirty="0">
                <a:solidFill>
                  <a:schemeClr val="tx1">
                    <a:lumMod val="75000"/>
                  </a:schemeClr>
                </a:solidFill>
                <a:latin typeface="Times New Roman" panose="02020603050405020304" pitchFamily="18" charset="0"/>
                <a:cs typeface="Times New Roman" panose="02020603050405020304" pitchFamily="18" charset="0"/>
              </a:rPr>
              <a:t>, t-SNE), their comparative performance depends strongly on the underlying data structure. </a:t>
            </a:r>
          </a:p>
          <a:p>
            <a:pPr algn="just">
              <a:lnSpc>
                <a:spcPct val="150000"/>
              </a:lnSpc>
            </a:pPr>
            <a:r>
              <a:rPr lang="en-US" dirty="0">
                <a:solidFill>
                  <a:schemeClr val="tx1">
                    <a:lumMod val="75000"/>
                  </a:schemeClr>
                </a:solidFill>
                <a:latin typeface="Times New Roman" panose="02020603050405020304" pitchFamily="18" charset="0"/>
                <a:cs typeface="Times New Roman" panose="02020603050405020304" pitchFamily="18" charset="0"/>
              </a:rPr>
              <a:t>Real-world data rarely conforms strictly to linear or non-linear assumptions; instead, it often exhibits mixed or semi-linear characteristics. This raises critical questions:</a:t>
            </a:r>
          </a:p>
          <a:p>
            <a:pPr algn="just">
              <a:lnSpc>
                <a:spcPct val="150000"/>
              </a:lnSpc>
            </a:pPr>
            <a:endParaRPr lang="en-US" dirty="0">
              <a:solidFill>
                <a:schemeClr val="tx1">
                  <a:lumMod val="75000"/>
                </a:schemeClr>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How do linear and non-linear DR methods perform when their assumptions align with the data-generating process?</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Which algorithms generalize best under semi-linear conditions?</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What metrics reliably capture reconstruction fidelity and structural preservation across varying target dimensions?</a:t>
            </a:r>
          </a:p>
          <a:p>
            <a:pPr algn="just">
              <a:lnSpc>
                <a:spcPct val="150000"/>
              </a:lnSpc>
            </a:pPr>
            <a:endParaRPr lang="en-US" dirty="0">
              <a:solidFill>
                <a:schemeClr val="tx1">
                  <a:lumMod val="75000"/>
                </a:schemeClr>
              </a:solidFill>
              <a:latin typeface="Times New Roman" panose="02020603050405020304" pitchFamily="18" charset="0"/>
              <a:cs typeface="Times New Roman" panose="02020603050405020304" pitchFamily="18" charset="0"/>
            </a:endParaRPr>
          </a:p>
          <a:p>
            <a:pPr algn="just">
              <a:lnSpc>
                <a:spcPct val="150000"/>
              </a:lnSpc>
            </a:pPr>
            <a:r>
              <a:rPr lang="en-US" dirty="0">
                <a:solidFill>
                  <a:schemeClr val="tx1">
                    <a:lumMod val="75000"/>
                  </a:schemeClr>
                </a:solidFill>
                <a:latin typeface="Times New Roman" panose="02020603050405020304" pitchFamily="18" charset="0"/>
                <a:cs typeface="Times New Roman" panose="02020603050405020304" pitchFamily="18" charset="0"/>
              </a:rPr>
              <a:t>Addressing these questions is essential for guiding practitioners in selecting DR techniques that balance accuracy, interpretability, and computational efficiency.</a:t>
            </a:r>
            <a:endParaRPr lang="en-GB" dirty="0">
              <a:solidFill>
                <a:schemeClr val="tx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00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Methodology</a:t>
            </a:r>
          </a:p>
        </p:txBody>
      </p:sp>
      <p:sp>
        <p:nvSpPr>
          <p:cNvPr id="7" name="TextBox 6">
            <a:extLst>
              <a:ext uri="{FF2B5EF4-FFF2-40B4-BE49-F238E27FC236}">
                <a16:creationId xmlns:a16="http://schemas.microsoft.com/office/drawing/2014/main" id="{5EA152A4-80F2-7A3F-63B3-DD1F6B036CF7}"/>
              </a:ext>
            </a:extLst>
          </p:cNvPr>
          <p:cNvSpPr txBox="1"/>
          <p:nvPr/>
        </p:nvSpPr>
        <p:spPr>
          <a:xfrm>
            <a:off x="207818" y="1443841"/>
            <a:ext cx="11790218" cy="5115311"/>
          </a:xfrm>
          <a:prstGeom prst="rect">
            <a:avLst/>
          </a:prstGeom>
          <a:noFill/>
        </p:spPr>
        <p:txBody>
          <a:bodyPr wrap="square">
            <a:spAutoFit/>
          </a:bodyPr>
          <a:lstStyle/>
          <a:p>
            <a:pPr algn="just">
              <a:lnSpc>
                <a:spcPct val="150000"/>
              </a:lnSpc>
            </a:pPr>
            <a:r>
              <a:rPr lang="en-GB" sz="2000" dirty="0">
                <a:latin typeface="Times New Roman" panose="02020603050405020304" pitchFamily="18" charset="0"/>
                <a:cs typeface="Times New Roman" panose="02020603050405020304" pitchFamily="18" charset="0"/>
              </a:rPr>
              <a:t>The study adopts a controlled experimental design implemented in Python and structured as follows:</a:t>
            </a:r>
          </a:p>
          <a:p>
            <a:pPr algn="just">
              <a:lnSpc>
                <a:spcPct val="150000"/>
              </a:lnSpc>
            </a:pPr>
            <a:endParaRPr lang="en-GB" sz="2000"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GB" sz="2000" b="1" dirty="0">
                <a:latin typeface="Times New Roman" panose="02020603050405020304" pitchFamily="18" charset="0"/>
                <a:cs typeface="Times New Roman" panose="02020603050405020304" pitchFamily="18" charset="0"/>
              </a:rPr>
              <a:t>DATA GENERATION</a:t>
            </a:r>
          </a:p>
          <a:p>
            <a:pPr algn="just">
              <a:lnSpc>
                <a:spcPct val="150000"/>
              </a:lnSpc>
            </a:pPr>
            <a:r>
              <a:rPr lang="en-GB" sz="2000" dirty="0">
                <a:latin typeface="Times New Roman" panose="02020603050405020304" pitchFamily="18" charset="0"/>
                <a:cs typeface="Times New Roman" panose="02020603050405020304" pitchFamily="18" charset="0"/>
              </a:rPr>
              <a:t>Three synthetic datasets were constructed to reflect distinct structural regimes:</a:t>
            </a:r>
          </a:p>
          <a:p>
            <a:pPr marL="285750" indent="-285750" algn="just">
              <a:lnSpc>
                <a:spcPct val="150000"/>
              </a:lnSpc>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Linear dataset: Generated from five latent variables combined through linear mixing, augmented with correlated features and Gaussian noise.</a:t>
            </a:r>
          </a:p>
          <a:p>
            <a:pPr marL="285750" indent="-285750" algn="just">
              <a:lnSpc>
                <a:spcPct val="150000"/>
              </a:lnSpc>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Non-linear dataset: Based on a Swiss-roll manifold with additional latent variables transformed via non-linear functions.</a:t>
            </a:r>
          </a:p>
          <a:p>
            <a:pPr marL="285750" indent="-285750" algn="just">
              <a:lnSpc>
                <a:spcPct val="150000"/>
              </a:lnSpc>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Semi-linear dataset: Combines linear and non-linear features with correlated components and noise to mimic real-world complexity. </a:t>
            </a:r>
          </a:p>
          <a:p>
            <a:pPr algn="just">
              <a:lnSpc>
                <a:spcPct val="150000"/>
              </a:lnSpc>
            </a:pPr>
            <a:r>
              <a:rPr lang="en-GB" sz="2000" dirty="0">
                <a:latin typeface="Times New Roman" panose="02020603050405020304" pitchFamily="18" charset="0"/>
                <a:cs typeface="Times New Roman" panose="02020603050405020304" pitchFamily="18" charset="0"/>
              </a:rPr>
              <a:t>All datasets were </a:t>
            </a:r>
            <a:r>
              <a:rPr lang="en-GB" sz="2000" dirty="0" err="1">
                <a:latin typeface="Times New Roman" panose="02020603050405020304" pitchFamily="18" charset="0"/>
                <a:cs typeface="Times New Roman" panose="02020603050405020304" pitchFamily="18" charset="0"/>
              </a:rPr>
              <a:t>centered</a:t>
            </a:r>
            <a:r>
              <a:rPr lang="en-GB" sz="2000" dirty="0">
                <a:latin typeface="Times New Roman" panose="02020603050405020304" pitchFamily="18" charset="0"/>
                <a:cs typeface="Times New Roman" panose="02020603050405020304" pitchFamily="18" charset="0"/>
              </a:rPr>
              <a:t> to ensure comparability across algorithms.</a:t>
            </a:r>
          </a:p>
        </p:txBody>
      </p:sp>
    </p:spTree>
    <p:extLst>
      <p:ext uri="{BB962C8B-B14F-4D97-AF65-F5344CB8AC3E}">
        <p14:creationId xmlns:p14="http://schemas.microsoft.com/office/powerpoint/2010/main" val="319702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FDF7-CFEA-B1AC-9A9F-79039C9C9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8014C-9547-5673-C056-A128C369E0EE}"/>
              </a:ext>
            </a:extLst>
          </p:cNvPr>
          <p:cNvSpPr>
            <a:spLocks noGrp="1"/>
          </p:cNvSpPr>
          <p:nvPr>
            <p:ph type="title"/>
          </p:nvPr>
        </p:nvSpPr>
        <p:spPr/>
        <p:txBody>
          <a:bodyPr rtlCol="0"/>
          <a:lstStyle/>
          <a:p>
            <a:pPr rtl="0"/>
            <a:r>
              <a:rPr lang="en-GB" dirty="0"/>
              <a:t>Methodology</a:t>
            </a:r>
          </a:p>
        </p:txBody>
      </p:sp>
      <p:sp>
        <p:nvSpPr>
          <p:cNvPr id="7" name="TextBox 6">
            <a:extLst>
              <a:ext uri="{FF2B5EF4-FFF2-40B4-BE49-F238E27FC236}">
                <a16:creationId xmlns:a16="http://schemas.microsoft.com/office/drawing/2014/main" id="{7A929DED-0906-4FFA-EED9-0E424C2FFA41}"/>
              </a:ext>
            </a:extLst>
          </p:cNvPr>
          <p:cNvSpPr txBox="1"/>
          <p:nvPr/>
        </p:nvSpPr>
        <p:spPr>
          <a:xfrm>
            <a:off x="207818" y="1443841"/>
            <a:ext cx="11790218" cy="3366563"/>
          </a:xfrm>
          <a:prstGeom prst="rect">
            <a:avLst/>
          </a:prstGeom>
          <a:noFill/>
        </p:spPr>
        <p:txBody>
          <a:bodyPr wrap="square">
            <a:spAutoFit/>
          </a:bodyPr>
          <a:lstStyle/>
          <a:p>
            <a:pPr algn="just">
              <a:lnSpc>
                <a:spcPct val="150000"/>
              </a:lnSpc>
            </a:pPr>
            <a:r>
              <a:rPr lang="en-GB" dirty="0">
                <a:latin typeface="Times New Roman" panose="02020603050405020304" pitchFamily="18" charset="0"/>
                <a:cs typeface="Times New Roman" panose="02020603050405020304" pitchFamily="18" charset="0"/>
              </a:rPr>
              <a:t>2. </a:t>
            </a:r>
            <a:r>
              <a:rPr lang="en-GB" b="1" dirty="0">
                <a:latin typeface="Times New Roman" panose="02020603050405020304" pitchFamily="18" charset="0"/>
                <a:cs typeface="Times New Roman" panose="02020603050405020304" pitchFamily="18" charset="0"/>
              </a:rPr>
              <a:t>ALGORITHMS EVALUATED</a:t>
            </a:r>
          </a:p>
          <a:p>
            <a:pPr algn="just">
              <a:lnSpc>
                <a:spcPct val="150000"/>
              </a:lnSpc>
            </a:pPr>
            <a:r>
              <a:rPr lang="en-GB" dirty="0">
                <a:latin typeface="Times New Roman" panose="02020603050405020304" pitchFamily="18" charset="0"/>
                <a:cs typeface="Times New Roman" panose="02020603050405020304" pitchFamily="18" charset="0"/>
              </a:rPr>
              <a:t>Two families of DR methods were tested:</a:t>
            </a:r>
          </a:p>
          <a:p>
            <a:pPr marL="285750" indent="-285750" algn="just">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Linear methods: PCA, Incremental PCA, Truncated SVD, Factor Analysis, Sparse PCA, </a:t>
            </a:r>
            <a:r>
              <a:rPr lang="en-GB" dirty="0" err="1">
                <a:latin typeface="Times New Roman" panose="02020603050405020304" pitchFamily="18" charset="0"/>
                <a:cs typeface="Times New Roman" panose="02020603050405020304" pitchFamily="18" charset="0"/>
              </a:rPr>
              <a:t>MiniBatch</a:t>
            </a:r>
            <a:r>
              <a:rPr lang="en-GB" dirty="0">
                <a:latin typeface="Times New Roman" panose="02020603050405020304" pitchFamily="18" charset="0"/>
                <a:cs typeface="Times New Roman" panose="02020603050405020304" pitchFamily="18" charset="0"/>
              </a:rPr>
              <a:t> Sparse PCA, Dictionary Learning, Gaussian and Sparse Random Projection.</a:t>
            </a:r>
          </a:p>
          <a:p>
            <a:pPr marL="285750" indent="-285750" algn="just">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Non-linear methods: Isomap, Locally Linear Embedding (LLE), Spectral Embedding (Laplacian Eigenmaps), Kernel PCA (RBF kernel), and t-SNE (Barnes–Hut for 2–3D, Exact for higher dimensions).</a:t>
            </a:r>
          </a:p>
          <a:p>
            <a:pPr algn="just">
              <a:lnSpc>
                <a:spcPct val="150000"/>
              </a:lnSpc>
            </a:pPr>
            <a:endParaRPr lang="en-GB" dirty="0">
              <a:latin typeface="Times New Roman" panose="02020603050405020304" pitchFamily="18" charset="0"/>
              <a:cs typeface="Times New Roman" panose="02020603050405020304" pitchFamily="18" charset="0"/>
            </a:endParaRPr>
          </a:p>
          <a:p>
            <a:pPr algn="just">
              <a:lnSpc>
                <a:spcPct val="150000"/>
              </a:lnSpc>
            </a:pPr>
            <a:r>
              <a:rPr lang="en-GB" dirty="0">
                <a:latin typeface="Times New Roman" panose="02020603050405020304" pitchFamily="18" charset="0"/>
                <a:cs typeface="Times New Roman" panose="02020603050405020304" pitchFamily="18" charset="0"/>
              </a:rPr>
              <a:t>Target dimensions: k = {2, 4, 6, 8}.</a:t>
            </a:r>
          </a:p>
        </p:txBody>
      </p:sp>
    </p:spTree>
    <p:extLst>
      <p:ext uri="{BB962C8B-B14F-4D97-AF65-F5344CB8AC3E}">
        <p14:creationId xmlns:p14="http://schemas.microsoft.com/office/powerpoint/2010/main" val="2309738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25A6-EB45-CC45-21F2-0FD3D1909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CED87-4F17-0EC4-EAEA-D07EEBC428E9}"/>
              </a:ext>
            </a:extLst>
          </p:cNvPr>
          <p:cNvSpPr>
            <a:spLocks noGrp="1"/>
          </p:cNvSpPr>
          <p:nvPr>
            <p:ph type="title"/>
          </p:nvPr>
        </p:nvSpPr>
        <p:spPr/>
        <p:txBody>
          <a:bodyPr rtlCol="0"/>
          <a:lstStyle/>
          <a:p>
            <a:pPr rtl="0"/>
            <a:r>
              <a:rPr lang="en-GB" dirty="0"/>
              <a:t>Methodology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DA9C43C-A63F-00D7-901A-41F3C1B40121}"/>
                  </a:ext>
                </a:extLst>
              </p:cNvPr>
              <p:cNvSpPr txBox="1"/>
              <p:nvPr/>
            </p:nvSpPr>
            <p:spPr>
              <a:xfrm>
                <a:off x="200132" y="1790204"/>
                <a:ext cx="11790218" cy="2535566"/>
              </a:xfrm>
              <a:prstGeom prst="rect">
                <a:avLst/>
              </a:prstGeom>
              <a:noFill/>
            </p:spPr>
            <p:txBody>
              <a:bodyPr wrap="square">
                <a:spAutoFit/>
              </a:bodyPr>
              <a:lstStyle/>
              <a:p>
                <a:pPr algn="just">
                  <a:lnSpc>
                    <a:spcPct val="150000"/>
                  </a:lnSpc>
                </a:pPr>
                <a:r>
                  <a:rPr lang="en-GB" dirty="0">
                    <a:latin typeface="Times New Roman" panose="02020603050405020304" pitchFamily="18" charset="0"/>
                    <a:cs typeface="Times New Roman" panose="02020603050405020304" pitchFamily="18" charset="0"/>
                  </a:rPr>
                  <a:t>3. </a:t>
                </a:r>
                <a:r>
                  <a:rPr lang="en-GB" b="1" dirty="0">
                    <a:solidFill>
                      <a:schemeClr val="tx1">
                        <a:lumMod val="75000"/>
                      </a:schemeClr>
                    </a:solidFill>
                    <a:latin typeface="Times New Roman" panose="02020603050405020304" pitchFamily="18" charset="0"/>
                    <a:cs typeface="Times New Roman" panose="02020603050405020304" pitchFamily="18" charset="0"/>
                  </a:rPr>
                  <a:t>RECONSTRUCTION POLICY</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If the algorithm provides inverse transform (e.g., PCA, KPCA), it was used. </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Otherwise, reconstruction employed a least-squares decoder:</a:t>
                </a:r>
              </a:p>
              <a:p>
                <a:pPr algn="ctr">
                  <a:lnSpc>
                    <a:spcPct val="150000"/>
                  </a:lnSpc>
                </a:pPr>
                <a14:m>
                  <m:oMath xmlns:m="http://schemas.openxmlformats.org/officeDocument/2006/math">
                    <m:acc>
                      <m:accPr>
                        <m:chr m:val="̂"/>
                        <m:ctrlPr>
                          <a:rPr lang="en-GB" i="1" dirty="0">
                            <a:solidFill>
                              <a:schemeClr val="tx1">
                                <a:lumMod val="75000"/>
                              </a:schemeClr>
                            </a:solidFill>
                            <a:latin typeface="Cambria Math" panose="02040503050406030204" pitchFamily="18" charset="0"/>
                          </a:rPr>
                        </m:ctrlPr>
                      </m:accPr>
                      <m:e>
                        <m:r>
                          <a:rPr lang="en-GB" i="1" dirty="0">
                            <a:solidFill>
                              <a:schemeClr val="tx1">
                                <a:lumMod val="75000"/>
                              </a:schemeClr>
                            </a:solidFill>
                            <a:latin typeface="Cambria Math" panose="02040503050406030204" pitchFamily="18" charset="0"/>
                          </a:rPr>
                          <m:t>𝑥</m:t>
                        </m:r>
                      </m:e>
                    </m:acc>
                    <m:r>
                      <a:rPr lang="en-GB" i="1" dirty="0">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=Z ⋅ </a:t>
                </a:r>
                <a:r>
                  <a:rPr lang="en-GB" dirty="0" err="1">
                    <a:solidFill>
                      <a:schemeClr val="tx1">
                        <a:lumMod val="75000"/>
                      </a:schemeClr>
                    </a:solidFill>
                    <a:latin typeface="Times New Roman" panose="02020603050405020304" pitchFamily="18" charset="0"/>
                    <a:cs typeface="Times New Roman" panose="02020603050405020304" pitchFamily="18" charset="0"/>
                  </a:rPr>
                  <a:t>pinv</a:t>
                </a:r>
                <a:r>
                  <a:rPr lang="en-GB" dirty="0">
                    <a:solidFill>
                      <a:schemeClr val="tx1">
                        <a:lumMod val="75000"/>
                      </a:schemeClr>
                    </a:solidFill>
                    <a:latin typeface="Times New Roman" panose="02020603050405020304" pitchFamily="18" charset="0"/>
                    <a:cs typeface="Times New Roman" panose="02020603050405020304" pitchFamily="18" charset="0"/>
                  </a:rPr>
                  <a:t>(Z) ⋅ </a:t>
                </a:r>
                <a:r>
                  <a:rPr lang="en-GB" dirty="0" err="1">
                    <a:solidFill>
                      <a:schemeClr val="tx1">
                        <a:lumMod val="75000"/>
                      </a:schemeClr>
                    </a:solidFill>
                    <a:latin typeface="Times New Roman" panose="02020603050405020304" pitchFamily="18" charset="0"/>
                    <a:cs typeface="Times New Roman" panose="02020603050405020304" pitchFamily="18" charset="0"/>
                  </a:rPr>
                  <a:t>Xc</a:t>
                </a:r>
                <a:endParaRPr lang="en-GB" dirty="0">
                  <a:solidFill>
                    <a:schemeClr val="tx1">
                      <a:lumMod val="75000"/>
                    </a:schemeClr>
                  </a:solidFill>
                  <a:latin typeface="Times New Roman" panose="02020603050405020304" pitchFamily="18" charset="0"/>
                  <a:cs typeface="Times New Roman" panose="02020603050405020304" pitchFamily="18" charset="0"/>
                </a:endParaRP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where Z is the low-dimensional embedding and </a:t>
                </a:r>
                <a:r>
                  <a:rPr lang="en-GB" dirty="0" err="1">
                    <a:solidFill>
                      <a:schemeClr val="tx1">
                        <a:lumMod val="75000"/>
                      </a:schemeClr>
                    </a:solidFill>
                    <a:latin typeface="Times New Roman" panose="02020603050405020304" pitchFamily="18" charset="0"/>
                    <a:cs typeface="Times New Roman" panose="02020603050405020304" pitchFamily="18" charset="0"/>
                  </a:rPr>
                  <a:t>Xc</a:t>
                </a:r>
                <a:r>
                  <a:rPr lang="en-GB" dirty="0">
                    <a:solidFill>
                      <a:schemeClr val="tx1">
                        <a:lumMod val="75000"/>
                      </a:schemeClr>
                    </a:solidFill>
                    <a:latin typeface="Times New Roman" panose="02020603050405020304" pitchFamily="18" charset="0"/>
                    <a:cs typeface="Times New Roman" panose="02020603050405020304" pitchFamily="18" charset="0"/>
                  </a:rPr>
                  <a:t>​ is the </a:t>
                </a:r>
                <a:r>
                  <a:rPr lang="en-GB" dirty="0" err="1">
                    <a:solidFill>
                      <a:schemeClr val="tx1">
                        <a:lumMod val="75000"/>
                      </a:schemeClr>
                    </a:solidFill>
                    <a:latin typeface="Times New Roman" panose="02020603050405020304" pitchFamily="18" charset="0"/>
                    <a:cs typeface="Times New Roman" panose="02020603050405020304" pitchFamily="18" charset="0"/>
                  </a:rPr>
                  <a:t>centered</a:t>
                </a:r>
                <a:r>
                  <a:rPr lang="en-GB" dirty="0">
                    <a:solidFill>
                      <a:schemeClr val="tx1">
                        <a:lumMod val="75000"/>
                      </a:schemeClr>
                    </a:solidFill>
                    <a:latin typeface="Times New Roman" panose="02020603050405020304" pitchFamily="18" charset="0"/>
                    <a:cs typeface="Times New Roman" panose="02020603050405020304" pitchFamily="18" charset="0"/>
                  </a:rPr>
                  <a:t> data. This ensures a uniform baseline for reconstruction across all methods.</a:t>
                </a:r>
              </a:p>
            </p:txBody>
          </p:sp>
        </mc:Choice>
        <mc:Fallback>
          <p:sp>
            <p:nvSpPr>
              <p:cNvPr id="7" name="TextBox 6">
                <a:extLst>
                  <a:ext uri="{FF2B5EF4-FFF2-40B4-BE49-F238E27FC236}">
                    <a16:creationId xmlns:a16="http://schemas.microsoft.com/office/drawing/2014/main" id="{2DA9C43C-A63F-00D7-901A-41F3C1B40121}"/>
                  </a:ext>
                </a:extLst>
              </p:cNvPr>
              <p:cNvSpPr txBox="1">
                <a:spLocks noRot="1" noChangeAspect="1" noMove="1" noResize="1" noEditPoints="1" noAdjustHandles="1" noChangeArrowheads="1" noChangeShapeType="1" noTextEdit="1"/>
              </p:cNvSpPr>
              <p:nvPr/>
            </p:nvSpPr>
            <p:spPr>
              <a:xfrm>
                <a:off x="200132" y="1790204"/>
                <a:ext cx="11790218" cy="2535566"/>
              </a:xfrm>
              <a:prstGeom prst="rect">
                <a:avLst/>
              </a:prstGeom>
              <a:blipFill>
                <a:blip r:embed="rId3"/>
                <a:stretch>
                  <a:fillRect l="-465" r="-414" b="-2885"/>
                </a:stretch>
              </a:blipFill>
            </p:spPr>
            <p:txBody>
              <a:bodyPr/>
              <a:lstStyle/>
              <a:p>
                <a:r>
                  <a:rPr lang="en-GB">
                    <a:noFill/>
                  </a:rPr>
                  <a:t> </a:t>
                </a:r>
              </a:p>
            </p:txBody>
          </p:sp>
        </mc:Fallback>
      </mc:AlternateContent>
    </p:spTree>
    <p:extLst>
      <p:ext uri="{BB962C8B-B14F-4D97-AF65-F5344CB8AC3E}">
        <p14:creationId xmlns:p14="http://schemas.microsoft.com/office/powerpoint/2010/main" val="896682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B7F06-EFB6-0456-E297-2D71C7D07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79D3B-F1F2-F048-C855-0D515EFC86E8}"/>
              </a:ext>
            </a:extLst>
          </p:cNvPr>
          <p:cNvSpPr>
            <a:spLocks noGrp="1"/>
          </p:cNvSpPr>
          <p:nvPr>
            <p:ph type="title"/>
          </p:nvPr>
        </p:nvSpPr>
        <p:spPr/>
        <p:txBody>
          <a:bodyPr rtlCol="0"/>
          <a:lstStyle/>
          <a:p>
            <a:pPr rtl="0"/>
            <a:r>
              <a:rPr lang="en-GB" dirty="0"/>
              <a:t>Methodology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32CD20D-FFE7-31B4-8543-C15C0BA3E5C4}"/>
                  </a:ext>
                </a:extLst>
              </p:cNvPr>
              <p:cNvSpPr txBox="1"/>
              <p:nvPr/>
            </p:nvSpPr>
            <p:spPr>
              <a:xfrm>
                <a:off x="207818" y="1443841"/>
                <a:ext cx="11790218" cy="2951064"/>
              </a:xfrm>
              <a:prstGeom prst="rect">
                <a:avLst/>
              </a:prstGeom>
              <a:noFill/>
            </p:spPr>
            <p:txBody>
              <a:bodyPr wrap="square">
                <a:spAutoFit/>
              </a:bodyPr>
              <a:lstStyle/>
              <a:p>
                <a:pPr algn="just">
                  <a:lnSpc>
                    <a:spcPct val="150000"/>
                  </a:lnSpc>
                </a:pPr>
                <a:r>
                  <a:rPr lang="en-GB" dirty="0">
                    <a:latin typeface="Times New Roman" panose="02020603050405020304" pitchFamily="18" charset="0"/>
                    <a:cs typeface="Times New Roman" panose="02020603050405020304" pitchFamily="18" charset="0"/>
                  </a:rPr>
                  <a:t>4. </a:t>
                </a:r>
                <a:r>
                  <a:rPr lang="en-GB" b="1" dirty="0">
                    <a:latin typeface="Times New Roman" panose="02020603050405020304" pitchFamily="18" charset="0"/>
                    <a:cs typeface="Times New Roman" panose="02020603050405020304" pitchFamily="18" charset="0"/>
                  </a:rPr>
                  <a:t>EVALUATION METRICS</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Performance was assessed using:</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Frobenius norm: Total residual energy.</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Relative Frobenius norm: Scale-normalized error.</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Spectral norm: Largest singular value of residual (worst-case directional error).</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Mean Squared Error (MSE): Average entry-wise error.</a:t>
                </a:r>
              </a:p>
              <a:p>
                <a:pPr marL="285750" indent="-285750" algn="just">
                  <a:lnSpc>
                    <a:spcPct val="150000"/>
                  </a:lnSpc>
                  <a:buFont typeface="Wingdings" panose="05000000000000000000" pitchFamily="2" charset="2"/>
                  <a:buChar char="q"/>
                </a:pPr>
                <a:r>
                  <a:rPr lang="en-GB" dirty="0">
                    <a:solidFill>
                      <a:schemeClr val="tx1">
                        <a:lumMod val="75000"/>
                      </a:schemeClr>
                    </a:solidFill>
                    <a:latin typeface="Times New Roman" panose="02020603050405020304" pitchFamily="18" charset="0"/>
                    <a:cs typeface="Times New Roman" panose="02020603050405020304" pitchFamily="18" charset="0"/>
                  </a:rPr>
                  <a:t>Reconstruction (</a:t>
                </a:r>
                <a14:m>
                  <m:oMath xmlns:m="http://schemas.openxmlformats.org/officeDocument/2006/math">
                    <m:sSup>
                      <m:sSupPr>
                        <m:ctrlPr>
                          <a:rPr lang="en-GB" i="1" smtClean="0">
                            <a:solidFill>
                              <a:schemeClr val="tx1">
                                <a:lumMod val="75000"/>
                              </a:schemeClr>
                            </a:solidFill>
                            <a:latin typeface="Cambria Math" panose="02040503050406030204" pitchFamily="18" charset="0"/>
                          </a:rPr>
                        </m:ctrlPr>
                      </m:sSupPr>
                      <m:e>
                        <m:r>
                          <a:rPr lang="en-GB" i="1" smtClean="0">
                            <a:solidFill>
                              <a:schemeClr val="tx1">
                                <a:lumMod val="75000"/>
                              </a:schemeClr>
                            </a:solidFill>
                            <a:latin typeface="Cambria Math" panose="02040503050406030204" pitchFamily="18" charset="0"/>
                          </a:rPr>
                          <m:t>𝑅</m:t>
                        </m:r>
                      </m:e>
                      <m:sup>
                        <m:r>
                          <a:rPr lang="en-GB" i="0" smtClean="0">
                            <a:solidFill>
                              <a:schemeClr val="tx1">
                                <a:lumMod val="75000"/>
                              </a:schemeClr>
                            </a:solidFill>
                            <a:latin typeface="Cambria Math" panose="02040503050406030204" pitchFamily="18" charset="0"/>
                          </a:rPr>
                          <m:t>2</m:t>
                        </m:r>
                      </m:sup>
                    </m:sSup>
                  </m:oMath>
                </a14:m>
                <a:r>
                  <a:rPr lang="en-GB" dirty="0">
                    <a:solidFill>
                      <a:schemeClr val="tx1">
                        <a:lumMod val="75000"/>
                      </a:schemeClr>
                    </a:solidFill>
                    <a:latin typeface="Times New Roman" panose="02020603050405020304" pitchFamily="18" charset="0"/>
                    <a:cs typeface="Times New Roman" panose="02020603050405020304" pitchFamily="18" charset="0"/>
                  </a:rPr>
                  <a:t>): Variance explained by reconstruction.</a:t>
                </a:r>
              </a:p>
            </p:txBody>
          </p:sp>
        </mc:Choice>
        <mc:Fallback>
          <p:sp>
            <p:nvSpPr>
              <p:cNvPr id="7" name="TextBox 6">
                <a:extLst>
                  <a:ext uri="{FF2B5EF4-FFF2-40B4-BE49-F238E27FC236}">
                    <a16:creationId xmlns:a16="http://schemas.microsoft.com/office/drawing/2014/main" id="{F32CD20D-FFE7-31B4-8543-C15C0BA3E5C4}"/>
                  </a:ext>
                </a:extLst>
              </p:cNvPr>
              <p:cNvSpPr txBox="1">
                <a:spLocks noRot="1" noChangeAspect="1" noMove="1" noResize="1" noEditPoints="1" noAdjustHandles="1" noChangeArrowheads="1" noChangeShapeType="1" noTextEdit="1"/>
              </p:cNvSpPr>
              <p:nvPr/>
            </p:nvSpPr>
            <p:spPr>
              <a:xfrm>
                <a:off x="207818" y="1443841"/>
                <a:ext cx="11790218" cy="2951064"/>
              </a:xfrm>
              <a:prstGeom prst="rect">
                <a:avLst/>
              </a:prstGeom>
              <a:blipFill>
                <a:blip r:embed="rId3"/>
                <a:stretch>
                  <a:fillRect l="-414" b="-2479"/>
                </a:stretch>
              </a:blipFill>
            </p:spPr>
            <p:txBody>
              <a:bodyPr/>
              <a:lstStyle/>
              <a:p>
                <a:r>
                  <a:rPr lang="en-GB">
                    <a:noFill/>
                  </a:rPr>
                  <a:t> </a:t>
                </a:r>
              </a:p>
            </p:txBody>
          </p:sp>
        </mc:Fallback>
      </mc:AlternateContent>
    </p:spTree>
    <p:extLst>
      <p:ext uri="{BB962C8B-B14F-4D97-AF65-F5344CB8AC3E}">
        <p14:creationId xmlns:p14="http://schemas.microsoft.com/office/powerpoint/2010/main" val="1623398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0FB3-8C0E-5507-7A96-713262C5E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89D08-66BF-2FB1-56A0-C539BD06DDF7}"/>
              </a:ext>
            </a:extLst>
          </p:cNvPr>
          <p:cNvSpPr>
            <a:spLocks noGrp="1"/>
          </p:cNvSpPr>
          <p:nvPr>
            <p:ph type="title"/>
          </p:nvPr>
        </p:nvSpPr>
        <p:spPr/>
        <p:txBody>
          <a:bodyPr rtlCol="0"/>
          <a:lstStyle/>
          <a:p>
            <a:pPr rtl="0"/>
            <a:r>
              <a:rPr lang="en-GB" dirty="0"/>
              <a:t>Methodology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CD0D313-7D7B-4B12-270D-0F945662DB43}"/>
                  </a:ext>
                </a:extLst>
              </p:cNvPr>
              <p:cNvSpPr txBox="1"/>
              <p:nvPr/>
            </p:nvSpPr>
            <p:spPr>
              <a:xfrm>
                <a:off x="207818" y="1443841"/>
                <a:ext cx="11790218" cy="4613058"/>
              </a:xfrm>
              <a:prstGeom prst="rect">
                <a:avLst/>
              </a:prstGeom>
              <a:noFill/>
            </p:spPr>
            <p:txBody>
              <a:bodyPr wrap="square">
                <a:spAutoFit/>
              </a:bodyPr>
              <a:lstStyle/>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5. </a:t>
                </a:r>
                <a:r>
                  <a:rPr lang="en-GB" b="1" dirty="0">
                    <a:solidFill>
                      <a:schemeClr val="tx1">
                        <a:lumMod val="75000"/>
                      </a:schemeClr>
                    </a:solidFill>
                    <a:latin typeface="Times New Roman" panose="02020603050405020304" pitchFamily="18" charset="0"/>
                    <a:cs typeface="Times New Roman" panose="02020603050405020304" pitchFamily="18" charset="0"/>
                  </a:rPr>
                  <a:t>EXPERIMENTAL WORKFLOW</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For each dataset and target dimension:</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Fit each DR algorithm.</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Compute embeddings and reconstructions.</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Calculate all metrics.</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Aggregate results into:</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Per-method tables (scores by dimension).</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Average performance summaries.</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	Pivot tables for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oMath>
                </a14:m>
                <a:r>
                  <a:rPr lang="en-GB" dirty="0">
                    <a:solidFill>
                      <a:schemeClr val="tx1">
                        <a:lumMod val="75000"/>
                      </a:schemeClr>
                    </a:solidFill>
                    <a:latin typeface="Times New Roman" panose="02020603050405020304" pitchFamily="18" charset="0"/>
                    <a:cs typeface="Times New Roman" panose="02020603050405020304" pitchFamily="18" charset="0"/>
                  </a:rPr>
                  <a:t>.</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Identify Top-3 performers per family (linear vs. non-linear) based on average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oMath>
                </a14:m>
                <a:r>
                  <a:rPr lang="en-GB" dirty="0">
                    <a:solidFill>
                      <a:schemeClr val="tx1">
                        <a:lumMod val="75000"/>
                      </a:schemeClr>
                    </a:solidFill>
                    <a:latin typeface="Times New Roman" panose="02020603050405020304" pitchFamily="18" charset="0"/>
                    <a:cs typeface="Times New Roman" panose="02020603050405020304" pitchFamily="18" charset="0"/>
                  </a:rPr>
                  <a:t>.</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Re-evaluate these top methods on semi-linear data to test robustness.</a:t>
                </a:r>
              </a:p>
            </p:txBody>
          </p:sp>
        </mc:Choice>
        <mc:Fallback>
          <p:sp>
            <p:nvSpPr>
              <p:cNvPr id="7" name="TextBox 6">
                <a:extLst>
                  <a:ext uri="{FF2B5EF4-FFF2-40B4-BE49-F238E27FC236}">
                    <a16:creationId xmlns:a16="http://schemas.microsoft.com/office/drawing/2014/main" id="{5CD0D313-7D7B-4B12-270D-0F945662DB43}"/>
                  </a:ext>
                </a:extLst>
              </p:cNvPr>
              <p:cNvSpPr txBox="1">
                <a:spLocks noRot="1" noChangeAspect="1" noMove="1" noResize="1" noEditPoints="1" noAdjustHandles="1" noChangeArrowheads="1" noChangeShapeType="1" noTextEdit="1"/>
              </p:cNvSpPr>
              <p:nvPr/>
            </p:nvSpPr>
            <p:spPr>
              <a:xfrm>
                <a:off x="207818" y="1443841"/>
                <a:ext cx="11790218" cy="4613058"/>
              </a:xfrm>
              <a:prstGeom prst="rect">
                <a:avLst/>
              </a:prstGeom>
              <a:blipFill>
                <a:blip r:embed="rId3"/>
                <a:stretch>
                  <a:fillRect l="-414" b="-1189"/>
                </a:stretch>
              </a:blipFill>
            </p:spPr>
            <p:txBody>
              <a:bodyPr/>
              <a:lstStyle/>
              <a:p>
                <a:r>
                  <a:rPr lang="en-GB">
                    <a:noFill/>
                  </a:rPr>
                  <a:t> </a:t>
                </a:r>
              </a:p>
            </p:txBody>
          </p:sp>
        </mc:Fallback>
      </mc:AlternateContent>
    </p:spTree>
    <p:extLst>
      <p:ext uri="{BB962C8B-B14F-4D97-AF65-F5344CB8AC3E}">
        <p14:creationId xmlns:p14="http://schemas.microsoft.com/office/powerpoint/2010/main" val="3043280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14B5-95C7-CCB7-E1D2-CC3ABA150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90DBA-51E8-0EA9-BE5D-649DE5D0A8DC}"/>
              </a:ext>
            </a:extLst>
          </p:cNvPr>
          <p:cNvSpPr>
            <a:spLocks noGrp="1"/>
          </p:cNvSpPr>
          <p:nvPr>
            <p:ph type="title"/>
          </p:nvPr>
        </p:nvSpPr>
        <p:spPr/>
        <p:txBody>
          <a:bodyPr rtlCol="0"/>
          <a:lstStyle/>
          <a:p>
            <a:pPr rtl="0"/>
            <a:r>
              <a:rPr lang="en-GB" dirty="0"/>
              <a:t>Results Obtained</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EB021A1-2E7A-779F-1690-90A3E78001A3}"/>
                  </a:ext>
                </a:extLst>
              </p:cNvPr>
              <p:cNvSpPr txBox="1"/>
              <p:nvPr/>
            </p:nvSpPr>
            <p:spPr>
              <a:xfrm>
                <a:off x="207818" y="1443841"/>
                <a:ext cx="11790218" cy="4612673"/>
              </a:xfrm>
              <a:prstGeom prst="rect">
                <a:avLst/>
              </a:prstGeom>
              <a:noFill/>
            </p:spPr>
            <p:txBody>
              <a:bodyPr wrap="square">
                <a:spAutoFit/>
              </a:bodyPr>
              <a:lstStyle/>
              <a:p>
                <a:pPr algn="just">
                  <a:lnSpc>
                    <a:spcPct val="150000"/>
                  </a:lnSpc>
                </a:pPr>
                <a:r>
                  <a:rPr lang="en-GB" b="1" dirty="0">
                    <a:solidFill>
                      <a:schemeClr val="tx1">
                        <a:lumMod val="75000"/>
                      </a:schemeClr>
                    </a:solidFill>
                    <a:latin typeface="Times New Roman" panose="02020603050405020304" pitchFamily="18" charset="0"/>
                    <a:cs typeface="Times New Roman" panose="02020603050405020304" pitchFamily="18" charset="0"/>
                  </a:rPr>
                  <a:t>LINEAR DATA</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On purely linear data, PCA and </a:t>
                </a:r>
                <a:r>
                  <a:rPr lang="en-GB" dirty="0" err="1">
                    <a:solidFill>
                      <a:schemeClr val="tx1">
                        <a:lumMod val="75000"/>
                      </a:schemeClr>
                    </a:solidFill>
                    <a:latin typeface="Times New Roman" panose="02020603050405020304" pitchFamily="18" charset="0"/>
                    <a:cs typeface="Times New Roman" panose="02020603050405020304" pitchFamily="18" charset="0"/>
                  </a:rPr>
                  <a:t>TruncatedSVD</a:t>
                </a:r>
                <a:r>
                  <a:rPr lang="en-GB" dirty="0">
                    <a:solidFill>
                      <a:schemeClr val="tx1">
                        <a:lumMod val="75000"/>
                      </a:schemeClr>
                    </a:solidFill>
                    <a:latin typeface="Times New Roman" panose="02020603050405020304" pitchFamily="18" charset="0"/>
                    <a:cs typeface="Times New Roman" panose="02020603050405020304" pitchFamily="18" charset="0"/>
                  </a:rPr>
                  <a:t> achieved the highest reconstruction fidelity across all dimensions, with average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0.94 and near-perfect scores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&gt; 0.999) at k ≥ 6. </a:t>
                </a:r>
                <a:r>
                  <a:rPr lang="en-GB" dirty="0" err="1">
                    <a:solidFill>
                      <a:schemeClr val="tx1">
                        <a:lumMod val="75000"/>
                      </a:schemeClr>
                    </a:solidFill>
                    <a:latin typeface="Times New Roman" panose="02020603050405020304" pitchFamily="18" charset="0"/>
                    <a:cs typeface="Times New Roman" panose="02020603050405020304" pitchFamily="18" charset="0"/>
                  </a:rPr>
                  <a:t>SparsePCA</a:t>
                </a:r>
                <a:r>
                  <a:rPr lang="en-GB" dirty="0">
                    <a:solidFill>
                      <a:schemeClr val="tx1">
                        <a:lumMod val="75000"/>
                      </a:schemeClr>
                    </a:solidFill>
                    <a:latin typeface="Times New Roman" panose="02020603050405020304" pitchFamily="18" charset="0"/>
                    <a:cs typeface="Times New Roman" panose="02020603050405020304" pitchFamily="18" charset="0"/>
                  </a:rPr>
                  <a:t> performed similarly but slightly lower, while Random Projection methods (</a:t>
                </a:r>
                <a:r>
                  <a:rPr lang="en-GB" dirty="0" err="1">
                    <a:solidFill>
                      <a:schemeClr val="tx1">
                        <a:lumMod val="75000"/>
                      </a:schemeClr>
                    </a:solidFill>
                    <a:latin typeface="Times New Roman" panose="02020603050405020304" pitchFamily="18" charset="0"/>
                    <a:cs typeface="Times New Roman" panose="02020603050405020304" pitchFamily="18" charset="0"/>
                  </a:rPr>
                  <a:t>GaussianRP</a:t>
                </a:r>
                <a:r>
                  <a:rPr lang="en-GB" dirty="0">
                    <a:solidFill>
                      <a:schemeClr val="tx1">
                        <a:lumMod val="75000"/>
                      </a:schemeClr>
                    </a:solidFill>
                    <a:latin typeface="Times New Roman" panose="02020603050405020304" pitchFamily="18" charset="0"/>
                    <a:cs typeface="Times New Roman" panose="02020603050405020304" pitchFamily="18" charset="0"/>
                  </a:rPr>
                  <a:t>, </a:t>
                </a:r>
                <a:r>
                  <a:rPr lang="en-GB" dirty="0" err="1">
                    <a:solidFill>
                      <a:schemeClr val="tx1">
                        <a:lumMod val="75000"/>
                      </a:schemeClr>
                    </a:solidFill>
                    <a:latin typeface="Times New Roman" panose="02020603050405020304" pitchFamily="18" charset="0"/>
                    <a:cs typeface="Times New Roman" panose="02020603050405020304" pitchFamily="18" charset="0"/>
                  </a:rPr>
                  <a:t>SparseRP</a:t>
                </a:r>
                <a:r>
                  <a:rPr lang="en-GB" dirty="0">
                    <a:solidFill>
                      <a:schemeClr val="tx1">
                        <a:lumMod val="75000"/>
                      </a:schemeClr>
                    </a:solidFill>
                    <a:latin typeface="Times New Roman" panose="02020603050405020304" pitchFamily="18" charset="0"/>
                    <a:cs typeface="Times New Roman" panose="02020603050405020304" pitchFamily="18" charset="0"/>
                  </a:rPr>
                  <a:t>) showed poor reconstruction, especially at k=2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0.09). </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These results confirm PCA’s theoretical least-squares optimality for linear variance structures and highlight that increasing k rapidly improves fidelity.</a:t>
                </a:r>
              </a:p>
              <a:p>
                <a:pPr algn="just">
                  <a:lnSpc>
                    <a:spcPct val="150000"/>
                  </a:lnSpc>
                </a:pPr>
                <a:r>
                  <a:rPr lang="en-GB" b="1" dirty="0">
                    <a:solidFill>
                      <a:schemeClr val="tx1">
                        <a:lumMod val="75000"/>
                      </a:schemeClr>
                    </a:solidFill>
                    <a:latin typeface="Times New Roman" panose="02020603050405020304" pitchFamily="18" charset="0"/>
                    <a:cs typeface="Times New Roman" panose="02020603050405020304" pitchFamily="18" charset="0"/>
                  </a:rPr>
                  <a:t>NON-LINEAR DATA</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For non-linear manifold data, Isomap dominated with average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0.975, outperforming SpectralEmbedding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0.919) and LLE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0.916). At k = 2, Isomap achieved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0.94, while t-SNE and KernelPCA lagged significantly, confirming that t-SNE prioritizes local neighbourhood preservation for visualization rather than global reconstruction. Neighbourhood-based methods (Isomap, LLE) scaled well with dimension, reaching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0.98 at k=8.</a:t>
                </a:r>
              </a:p>
            </p:txBody>
          </p:sp>
        </mc:Choice>
        <mc:Fallback>
          <p:sp>
            <p:nvSpPr>
              <p:cNvPr id="7" name="TextBox 6">
                <a:extLst>
                  <a:ext uri="{FF2B5EF4-FFF2-40B4-BE49-F238E27FC236}">
                    <a16:creationId xmlns:a16="http://schemas.microsoft.com/office/drawing/2014/main" id="{FEB021A1-2E7A-779F-1690-90A3E78001A3}"/>
                  </a:ext>
                </a:extLst>
              </p:cNvPr>
              <p:cNvSpPr txBox="1">
                <a:spLocks noRot="1" noChangeAspect="1" noMove="1" noResize="1" noEditPoints="1" noAdjustHandles="1" noChangeArrowheads="1" noChangeShapeType="1" noTextEdit="1"/>
              </p:cNvSpPr>
              <p:nvPr/>
            </p:nvSpPr>
            <p:spPr>
              <a:xfrm>
                <a:off x="207818" y="1443841"/>
                <a:ext cx="11790218" cy="4612673"/>
              </a:xfrm>
              <a:prstGeom prst="rect">
                <a:avLst/>
              </a:prstGeom>
              <a:blipFill>
                <a:blip r:embed="rId3"/>
                <a:stretch>
                  <a:fillRect l="-414" r="-465" b="-1189"/>
                </a:stretch>
              </a:blipFill>
            </p:spPr>
            <p:txBody>
              <a:bodyPr/>
              <a:lstStyle/>
              <a:p>
                <a:r>
                  <a:rPr lang="en-GB">
                    <a:noFill/>
                  </a:rPr>
                  <a:t> </a:t>
                </a:r>
              </a:p>
            </p:txBody>
          </p:sp>
        </mc:Fallback>
      </mc:AlternateContent>
    </p:spTree>
    <p:extLst>
      <p:ext uri="{BB962C8B-B14F-4D97-AF65-F5344CB8AC3E}">
        <p14:creationId xmlns:p14="http://schemas.microsoft.com/office/powerpoint/2010/main" val="3922547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D063E-078E-B2A0-240E-0374EAA49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B13A6-8DAD-D03D-0399-CBA37A149E06}"/>
              </a:ext>
            </a:extLst>
          </p:cNvPr>
          <p:cNvSpPr>
            <a:spLocks noGrp="1"/>
          </p:cNvSpPr>
          <p:nvPr>
            <p:ph type="title"/>
          </p:nvPr>
        </p:nvSpPr>
        <p:spPr/>
        <p:txBody>
          <a:bodyPr rtlCol="0"/>
          <a:lstStyle/>
          <a:p>
            <a:pPr rtl="0"/>
            <a:r>
              <a:rPr lang="en-GB" dirty="0"/>
              <a:t>Results Obtained</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9E5F1C7-9DFD-E1CF-8509-16067BDDAB45}"/>
                  </a:ext>
                </a:extLst>
              </p:cNvPr>
              <p:cNvSpPr txBox="1"/>
              <p:nvPr/>
            </p:nvSpPr>
            <p:spPr>
              <a:xfrm>
                <a:off x="207818" y="1443841"/>
                <a:ext cx="11790218" cy="5028556"/>
              </a:xfrm>
              <a:prstGeom prst="rect">
                <a:avLst/>
              </a:prstGeom>
              <a:noFill/>
            </p:spPr>
            <p:txBody>
              <a:bodyPr wrap="square">
                <a:spAutoFit/>
              </a:bodyPr>
              <a:lstStyle/>
              <a:p>
                <a:pPr algn="just">
                  <a:lnSpc>
                    <a:spcPct val="150000"/>
                  </a:lnSpc>
                </a:pPr>
                <a:r>
                  <a:rPr lang="en-GB" b="1" dirty="0">
                    <a:solidFill>
                      <a:schemeClr val="tx1">
                        <a:lumMod val="75000"/>
                      </a:schemeClr>
                    </a:solidFill>
                    <a:latin typeface="Times New Roman" panose="02020603050405020304" pitchFamily="18" charset="0"/>
                    <a:cs typeface="Times New Roman" panose="02020603050405020304" pitchFamily="18" charset="0"/>
                  </a:rPr>
                  <a:t>SEMI-LINEAR DATA</a:t>
                </a:r>
              </a:p>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On mixed data, linear methods (PCA, </a:t>
                </a:r>
                <a:r>
                  <a:rPr lang="en-GB" dirty="0" err="1">
                    <a:solidFill>
                      <a:schemeClr val="tx1">
                        <a:lumMod val="75000"/>
                      </a:schemeClr>
                    </a:solidFill>
                    <a:latin typeface="Times New Roman" panose="02020603050405020304" pitchFamily="18" charset="0"/>
                    <a:cs typeface="Times New Roman" panose="02020603050405020304" pitchFamily="18" charset="0"/>
                  </a:rPr>
                  <a:t>TruncatedSVD</a:t>
                </a:r>
                <a:r>
                  <a:rPr lang="en-GB" dirty="0">
                    <a:solidFill>
                      <a:schemeClr val="tx1">
                        <a:lumMod val="75000"/>
                      </a:schemeClr>
                    </a:solidFill>
                    <a:latin typeface="Times New Roman" panose="02020603050405020304" pitchFamily="18" charset="0"/>
                    <a:cs typeface="Times New Roman" panose="02020603050405020304" pitchFamily="18" charset="0"/>
                  </a:rPr>
                  <a:t>) dominated at higher dimensions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0.998 at k=8), indicating that linear variance components drive overall fidelity. However, at very low dimensions (k = 2), Isomap outperformed PCA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GB" dirty="0">
                    <a:solidFill>
                      <a:schemeClr val="tx1">
                        <a:lumMod val="75000"/>
                      </a:schemeClr>
                    </a:solidFill>
                    <a:latin typeface="Times New Roman" panose="02020603050405020304" pitchFamily="18" charset="0"/>
                    <a:cs typeface="Times New Roman" panose="02020603050405020304" pitchFamily="18" charset="0"/>
                  </a:rPr>
                  <a:t>= 0.637 vs.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oMath>
                </a14:m>
                <a:r>
                  <a:rPr lang="en-GB" dirty="0">
                    <a:solidFill>
                      <a:schemeClr val="tx1">
                        <a:lumMod val="75000"/>
                      </a:schemeClr>
                    </a:solidFill>
                    <a:latin typeface="Times New Roman" panose="02020603050405020304" pitchFamily="18" charset="0"/>
                    <a:cs typeface="Times New Roman" panose="02020603050405020304" pitchFamily="18" charset="0"/>
                  </a:rPr>
                  <a:t> = 0.753), suggesting non-linear structure matters when compression is extreme. SpectralEmbedding and LLE improved with dimension but never surpassed PCA beyond k=4.</a:t>
                </a:r>
              </a:p>
              <a:p>
                <a:pPr algn="just">
                  <a:lnSpc>
                    <a:spcPct val="150000"/>
                  </a:lnSpc>
                </a:pPr>
                <a:r>
                  <a:rPr lang="en-US" b="1" dirty="0">
                    <a:solidFill>
                      <a:schemeClr val="tx1">
                        <a:lumMod val="75000"/>
                      </a:schemeClr>
                    </a:solidFill>
                    <a:latin typeface="Times New Roman" panose="02020603050405020304" pitchFamily="18" charset="0"/>
                    <a:cs typeface="Times New Roman" panose="02020603050405020304" pitchFamily="18" charset="0"/>
                  </a:rPr>
                  <a:t>KEY INSIGHTS</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For reconstruction/compression: PCA or </a:t>
                </a:r>
                <a:r>
                  <a:rPr lang="en-US" dirty="0" err="1">
                    <a:solidFill>
                      <a:schemeClr val="tx1">
                        <a:lumMod val="75000"/>
                      </a:schemeClr>
                    </a:solidFill>
                    <a:latin typeface="Times New Roman" panose="02020603050405020304" pitchFamily="18" charset="0"/>
                    <a:cs typeface="Times New Roman" panose="02020603050405020304" pitchFamily="18" charset="0"/>
                  </a:rPr>
                  <a:t>TruncatedSVD</a:t>
                </a:r>
                <a:r>
                  <a:rPr lang="en-US" dirty="0">
                    <a:solidFill>
                      <a:schemeClr val="tx1">
                        <a:lumMod val="75000"/>
                      </a:schemeClr>
                    </a:solidFill>
                    <a:latin typeface="Times New Roman" panose="02020603050405020304" pitchFamily="18" charset="0"/>
                    <a:cs typeface="Times New Roman" panose="02020603050405020304" pitchFamily="18" charset="0"/>
                  </a:rPr>
                  <a:t> are optimal </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for linear or semi-linear data; increasing </a:t>
                </a:r>
                <a:r>
                  <a:rPr lang="en-US" dirty="0" err="1">
                    <a:solidFill>
                      <a:schemeClr val="tx1">
                        <a:lumMod val="75000"/>
                      </a:schemeClr>
                    </a:solidFill>
                    <a:latin typeface="Times New Roman" panose="02020603050405020304" pitchFamily="18" charset="0"/>
                    <a:cs typeface="Times New Roman" panose="02020603050405020304" pitchFamily="18" charset="0"/>
                  </a:rPr>
                  <a:t>kkk</a:t>
                </a:r>
                <a:r>
                  <a:rPr lang="en-US" dirty="0">
                    <a:solidFill>
                      <a:schemeClr val="tx1">
                        <a:lumMod val="75000"/>
                      </a:schemeClr>
                    </a:solidFill>
                    <a:latin typeface="Times New Roman" panose="02020603050405020304" pitchFamily="18" charset="0"/>
                    <a:cs typeface="Times New Roman" panose="02020603050405020304" pitchFamily="18" charset="0"/>
                  </a:rPr>
                  <a:t> near intrinsic dimensionality yields rapid gains.</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For non-linear manifolds: </a:t>
                </a:r>
                <a:r>
                  <a:rPr lang="en-US" dirty="0" err="1">
                    <a:solidFill>
                      <a:schemeClr val="tx1">
                        <a:lumMod val="75000"/>
                      </a:schemeClr>
                    </a:solidFill>
                    <a:latin typeface="Times New Roman" panose="02020603050405020304" pitchFamily="18" charset="0"/>
                    <a:cs typeface="Times New Roman" panose="02020603050405020304" pitchFamily="18" charset="0"/>
                  </a:rPr>
                  <a:t>Isomap</a:t>
                </a:r>
                <a:r>
                  <a:rPr lang="en-US" dirty="0">
                    <a:solidFill>
                      <a:schemeClr val="tx1">
                        <a:lumMod val="75000"/>
                      </a:schemeClr>
                    </a:solidFill>
                    <a:latin typeface="Times New Roman" panose="02020603050405020304" pitchFamily="18" charset="0"/>
                    <a:cs typeface="Times New Roman" panose="02020603050405020304" pitchFamily="18" charset="0"/>
                  </a:rPr>
                  <a:t> is the best choice for balancing geometry preservation and </a:t>
                </a:r>
                <a:r>
                  <a:rPr lang="en-US" dirty="0" err="1">
                    <a:solidFill>
                      <a:schemeClr val="tx1">
                        <a:lumMod val="75000"/>
                      </a:schemeClr>
                    </a:solidFill>
                    <a:latin typeface="Times New Roman" panose="02020603050405020304" pitchFamily="18" charset="0"/>
                    <a:cs typeface="Times New Roman" panose="02020603050405020304" pitchFamily="18" charset="0"/>
                  </a:rPr>
                  <a:t>reconstructability</a:t>
                </a:r>
                <a:r>
                  <a:rPr lang="en-US" dirty="0">
                    <a:solidFill>
                      <a:schemeClr val="tx1">
                        <a:lumMod val="75000"/>
                      </a:schemeClr>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For visualization: t-SNE should not be used for reconstruction; its low </a:t>
                </a:r>
                <a14:m>
                  <m:oMath xmlns:m="http://schemas.openxmlformats.org/officeDocument/2006/math">
                    <m:sSup>
                      <m:sSupPr>
                        <m:ctrlPr>
                          <a:rPr lang="en-GB" i="1">
                            <a:solidFill>
                              <a:schemeClr val="tx1">
                                <a:lumMod val="75000"/>
                              </a:schemeClr>
                            </a:solidFill>
                            <a:latin typeface="Cambria Math" panose="02040503050406030204" pitchFamily="18" charset="0"/>
                          </a:rPr>
                        </m:ctrlPr>
                      </m:sSupPr>
                      <m:e>
                        <m:r>
                          <a:rPr lang="en-GB" i="1">
                            <a:solidFill>
                              <a:schemeClr val="tx1">
                                <a:lumMod val="75000"/>
                              </a:schemeClr>
                            </a:solidFill>
                            <a:latin typeface="Cambria Math" panose="02040503050406030204" pitchFamily="18" charset="0"/>
                          </a:rPr>
                          <m:t>𝑅</m:t>
                        </m:r>
                      </m:e>
                      <m:sup>
                        <m:r>
                          <a:rPr lang="en-GB">
                            <a:solidFill>
                              <a:schemeClr val="tx1">
                                <a:lumMod val="75000"/>
                              </a:schemeClr>
                            </a:solidFill>
                            <a:latin typeface="Cambria Math" panose="02040503050406030204" pitchFamily="18" charset="0"/>
                          </a:rPr>
                          <m:t>2</m:t>
                        </m:r>
                      </m:sup>
                    </m:sSup>
                    <m:r>
                      <a:rPr lang="en-GB" i="1">
                        <a:solidFill>
                          <a:schemeClr val="tx1">
                            <a:lumMod val="75000"/>
                          </a:schemeClr>
                        </a:solidFill>
                        <a:latin typeface="Cambria Math" panose="02040503050406030204" pitchFamily="18" charset="0"/>
                      </a:rPr>
                      <m:t> </m:t>
                    </m:r>
                  </m:oMath>
                </a14:m>
                <a:r>
                  <a:rPr lang="en-US" dirty="0">
                    <a:solidFill>
                      <a:schemeClr val="tx1">
                        <a:lumMod val="75000"/>
                      </a:schemeClr>
                    </a:solidFill>
                    <a:latin typeface="Times New Roman" panose="02020603050405020304" pitchFamily="18" charset="0"/>
                    <a:cs typeface="Times New Roman" panose="02020603050405020304" pitchFamily="18" charset="0"/>
                  </a:rPr>
                  <a:t>confirms its design for local neighborhood fidelity, not reversibility.</a:t>
                </a:r>
              </a:p>
              <a:p>
                <a:pPr marL="285750" indent="-285750" algn="just">
                  <a:lnSpc>
                    <a:spcPct val="150000"/>
                  </a:lnSpc>
                  <a:buFont typeface="Wingdings" panose="05000000000000000000" pitchFamily="2" charset="2"/>
                  <a:buChar char="q"/>
                </a:pPr>
                <a:r>
                  <a:rPr lang="en-US" dirty="0">
                    <a:solidFill>
                      <a:schemeClr val="tx1">
                        <a:lumMod val="75000"/>
                      </a:schemeClr>
                    </a:solidFill>
                    <a:latin typeface="Times New Roman" panose="02020603050405020304" pitchFamily="18" charset="0"/>
                    <a:cs typeface="Times New Roman" panose="02020603050405020304" pitchFamily="18" charset="0"/>
                  </a:rPr>
                  <a:t>Avoid Random Projections when fidelity matters, as they fail to capture dominant variance at low dimensions.</a:t>
                </a:r>
                <a:endParaRPr lang="en-GB" dirty="0">
                  <a:solidFill>
                    <a:schemeClr val="tx1">
                      <a:lumMod val="75000"/>
                    </a:schemeClr>
                  </a:solidFill>
                  <a:latin typeface="Times New Roman" panose="02020603050405020304" pitchFamily="18"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C9E5F1C7-9DFD-E1CF-8509-16067BDDAB45}"/>
                  </a:ext>
                </a:extLst>
              </p:cNvPr>
              <p:cNvSpPr txBox="1">
                <a:spLocks noRot="1" noChangeAspect="1" noMove="1" noResize="1" noEditPoints="1" noAdjustHandles="1" noChangeArrowheads="1" noChangeShapeType="1" noTextEdit="1"/>
              </p:cNvSpPr>
              <p:nvPr/>
            </p:nvSpPr>
            <p:spPr>
              <a:xfrm>
                <a:off x="207818" y="1443841"/>
                <a:ext cx="11790218" cy="5028556"/>
              </a:xfrm>
              <a:prstGeom prst="rect">
                <a:avLst/>
              </a:prstGeom>
              <a:blipFill>
                <a:blip r:embed="rId3"/>
                <a:stretch>
                  <a:fillRect l="-414" r="-465" b="-970"/>
                </a:stretch>
              </a:blipFill>
            </p:spPr>
            <p:txBody>
              <a:bodyPr/>
              <a:lstStyle/>
              <a:p>
                <a:r>
                  <a:rPr lang="en-GB">
                    <a:noFill/>
                  </a:rPr>
                  <a:t> </a:t>
                </a:r>
              </a:p>
            </p:txBody>
          </p:sp>
        </mc:Fallback>
      </mc:AlternateContent>
    </p:spTree>
    <p:extLst>
      <p:ext uri="{BB962C8B-B14F-4D97-AF65-F5344CB8AC3E}">
        <p14:creationId xmlns:p14="http://schemas.microsoft.com/office/powerpoint/2010/main" val="2999845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9D29-7B65-BC81-A4E5-2186C0F3F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125CC-1E67-458A-95BB-E9A4E804D6F7}"/>
              </a:ext>
            </a:extLst>
          </p:cNvPr>
          <p:cNvSpPr>
            <a:spLocks noGrp="1"/>
          </p:cNvSpPr>
          <p:nvPr>
            <p:ph type="title"/>
          </p:nvPr>
        </p:nvSpPr>
        <p:spPr/>
        <p:txBody>
          <a:bodyPr rtlCol="0"/>
          <a:lstStyle/>
          <a:p>
            <a:pPr rtl="0"/>
            <a:r>
              <a:rPr lang="en-GB" dirty="0"/>
              <a:t>Conclusion</a:t>
            </a:r>
          </a:p>
        </p:txBody>
      </p:sp>
      <p:sp>
        <p:nvSpPr>
          <p:cNvPr id="7" name="TextBox 6">
            <a:extLst>
              <a:ext uri="{FF2B5EF4-FFF2-40B4-BE49-F238E27FC236}">
                <a16:creationId xmlns:a16="http://schemas.microsoft.com/office/drawing/2014/main" id="{24AC7CC8-C81A-1B88-A892-B4950A545F60}"/>
              </a:ext>
            </a:extLst>
          </p:cNvPr>
          <p:cNvSpPr txBox="1"/>
          <p:nvPr/>
        </p:nvSpPr>
        <p:spPr>
          <a:xfrm>
            <a:off x="914400" y="1724431"/>
            <a:ext cx="9684327" cy="1289071"/>
          </a:xfrm>
          <a:prstGeom prst="rect">
            <a:avLst/>
          </a:prstGeom>
          <a:noFill/>
        </p:spPr>
        <p:txBody>
          <a:bodyPr wrap="square">
            <a:spAutoFit/>
          </a:bodyPr>
          <a:lstStyle/>
          <a:p>
            <a:pPr algn="just">
              <a:lnSpc>
                <a:spcPct val="150000"/>
              </a:lnSpc>
            </a:pPr>
            <a:r>
              <a:rPr lang="en-GB" dirty="0">
                <a:solidFill>
                  <a:schemeClr val="tx1">
                    <a:lumMod val="75000"/>
                  </a:schemeClr>
                </a:solidFill>
                <a:latin typeface="Times New Roman" panose="02020603050405020304" pitchFamily="18" charset="0"/>
                <a:cs typeface="Times New Roman" panose="02020603050405020304" pitchFamily="18" charset="0"/>
              </a:rPr>
              <a:t>In conclusion, f</a:t>
            </a:r>
            <a:r>
              <a:rPr lang="en-US" dirty="0">
                <a:solidFill>
                  <a:schemeClr val="tx1">
                    <a:lumMod val="75000"/>
                  </a:schemeClr>
                </a:solidFill>
                <a:latin typeface="Times New Roman" panose="02020603050405020304" pitchFamily="18" charset="0"/>
                <a:cs typeface="Times New Roman" panose="02020603050405020304" pitchFamily="18" charset="0"/>
              </a:rPr>
              <a:t>or real-world semi-linear data, combining a strong linear method with a robust non-linear method offers complementary strengths. Practitioners should select DR techniques based on data structure, target dimension, and goal using multi-metric evaluation rather than single-score rankings.</a:t>
            </a:r>
            <a:endParaRPr lang="en-GB" dirty="0">
              <a:solidFill>
                <a:schemeClr val="tx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301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Tables and Figures</a:t>
            </a:r>
          </a:p>
        </p:txBody>
      </p:sp>
      <p:graphicFrame>
        <p:nvGraphicFramePr>
          <p:cNvPr id="10" name="Content Placeholder 9">
            <a:extLst>
              <a:ext uri="{FF2B5EF4-FFF2-40B4-BE49-F238E27FC236}">
                <a16:creationId xmlns:a16="http://schemas.microsoft.com/office/drawing/2014/main" id="{43FD08F7-35FF-B1AD-2526-CAEEDBD4E777}"/>
              </a:ext>
            </a:extLst>
          </p:cNvPr>
          <p:cNvGraphicFramePr>
            <a:graphicFrameLocks noGrp="1"/>
          </p:cNvGraphicFramePr>
          <p:nvPr>
            <p:ph sz="half" idx="1"/>
            <p:extLst>
              <p:ext uri="{D42A27DB-BD31-4B8C-83A1-F6EECF244321}">
                <p14:modId xmlns:p14="http://schemas.microsoft.com/office/powerpoint/2010/main" val="3525175105"/>
              </p:ext>
            </p:extLst>
          </p:nvPr>
        </p:nvGraphicFramePr>
        <p:xfrm>
          <a:off x="1104900" y="2493818"/>
          <a:ext cx="8149936" cy="2784764"/>
        </p:xfrm>
        <a:graphic>
          <a:graphicData uri="http://schemas.openxmlformats.org/drawingml/2006/table">
            <a:tbl>
              <a:tblPr firstRow="1" firstCol="1" bandRow="1">
                <a:tableStyleId>{00A15C55-8517-42AA-B614-E9B94910E393}</a:tableStyleId>
              </a:tblPr>
              <a:tblGrid>
                <a:gridCol w="2084524">
                  <a:extLst>
                    <a:ext uri="{9D8B030D-6E8A-4147-A177-3AD203B41FA5}">
                      <a16:colId xmlns:a16="http://schemas.microsoft.com/office/drawing/2014/main" val="1420302305"/>
                    </a:ext>
                  </a:extLst>
                </a:gridCol>
                <a:gridCol w="1382091">
                  <a:extLst>
                    <a:ext uri="{9D8B030D-6E8A-4147-A177-3AD203B41FA5}">
                      <a16:colId xmlns:a16="http://schemas.microsoft.com/office/drawing/2014/main" val="1850720965"/>
                    </a:ext>
                  </a:extLst>
                </a:gridCol>
                <a:gridCol w="1561107">
                  <a:extLst>
                    <a:ext uri="{9D8B030D-6E8A-4147-A177-3AD203B41FA5}">
                      <a16:colId xmlns:a16="http://schemas.microsoft.com/office/drawing/2014/main" val="3905302162"/>
                    </a:ext>
                  </a:extLst>
                </a:gridCol>
                <a:gridCol w="1561107">
                  <a:extLst>
                    <a:ext uri="{9D8B030D-6E8A-4147-A177-3AD203B41FA5}">
                      <a16:colId xmlns:a16="http://schemas.microsoft.com/office/drawing/2014/main" val="3335719501"/>
                    </a:ext>
                  </a:extLst>
                </a:gridCol>
                <a:gridCol w="1561107">
                  <a:extLst>
                    <a:ext uri="{9D8B030D-6E8A-4147-A177-3AD203B41FA5}">
                      <a16:colId xmlns:a16="http://schemas.microsoft.com/office/drawing/2014/main" val="3160948621"/>
                    </a:ext>
                  </a:extLst>
                </a:gridCol>
              </a:tblGrid>
              <a:tr h="390294">
                <a:tc>
                  <a:txBody>
                    <a:bodyPr/>
                    <a:lstStyle/>
                    <a:p>
                      <a:pPr marL="0" marR="0" algn="ctr">
                        <a:lnSpc>
                          <a:spcPct val="115000"/>
                        </a:lnSpc>
                        <a:spcAft>
                          <a:spcPts val="800"/>
                        </a:spcAft>
                        <a:buNone/>
                      </a:pPr>
                      <a:r>
                        <a:rPr lang="en-GB" sz="1600" kern="100" dirty="0">
                          <a:effectLst/>
                        </a:rPr>
                        <a:t>DR Method</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dirty="0">
                          <a:effectLst/>
                        </a:rPr>
                        <a:t>2</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4</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6</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8</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extLst>
                  <a:ext uri="{0D108BD9-81ED-4DB2-BD59-A6C34878D82A}">
                    <a16:rowId xmlns:a16="http://schemas.microsoft.com/office/drawing/2014/main" val="2050578127"/>
                  </a:ext>
                </a:extLst>
              </a:tr>
              <a:tr h="390294">
                <a:tc>
                  <a:txBody>
                    <a:bodyPr/>
                    <a:lstStyle/>
                    <a:p>
                      <a:pPr marL="0" marR="0" algn="ctr">
                        <a:lnSpc>
                          <a:spcPct val="115000"/>
                        </a:lnSpc>
                        <a:spcAft>
                          <a:spcPts val="800"/>
                        </a:spcAft>
                        <a:buNone/>
                      </a:pPr>
                      <a:r>
                        <a:rPr lang="en-GB" sz="1600" kern="100">
                          <a:effectLst/>
                        </a:rPr>
                        <a:t>Isomap</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0.636991</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0.942148</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0.958215</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0.964908</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2046928986"/>
                  </a:ext>
                </a:extLst>
              </a:tr>
              <a:tr h="390294">
                <a:tc>
                  <a:txBody>
                    <a:bodyPr/>
                    <a:lstStyle/>
                    <a:p>
                      <a:pPr marL="0" marR="0" algn="ctr">
                        <a:lnSpc>
                          <a:spcPct val="115000"/>
                        </a:lnSpc>
                        <a:spcAft>
                          <a:spcPts val="800"/>
                        </a:spcAft>
                        <a:buNone/>
                      </a:pPr>
                      <a:r>
                        <a:rPr lang="en-GB" sz="1600" kern="100" dirty="0">
                          <a:effectLst/>
                        </a:rPr>
                        <a:t>LLE</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0.596763</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0.818228</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0.931631</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0.958429</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3690821817"/>
                  </a:ext>
                </a:extLst>
              </a:tr>
              <a:tr h="390294">
                <a:tc>
                  <a:txBody>
                    <a:bodyPr/>
                    <a:lstStyle/>
                    <a:p>
                      <a:pPr marL="0" marR="0" algn="ctr">
                        <a:lnSpc>
                          <a:spcPct val="115000"/>
                        </a:lnSpc>
                        <a:spcAft>
                          <a:spcPts val="800"/>
                        </a:spcAft>
                        <a:buNone/>
                      </a:pPr>
                      <a:r>
                        <a:rPr lang="en-GB" sz="1600" kern="100" dirty="0">
                          <a:effectLst/>
                        </a:rPr>
                        <a:t>PCA</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dirty="0">
                          <a:effectLst/>
                        </a:rPr>
                        <a:t>0.752849</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0.970330</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0.994867</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0.998119</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2770758318"/>
                  </a:ext>
                </a:extLst>
              </a:tr>
              <a:tr h="390294">
                <a:tc>
                  <a:txBody>
                    <a:bodyPr/>
                    <a:lstStyle/>
                    <a:p>
                      <a:pPr marL="0" marR="0" algn="ctr">
                        <a:lnSpc>
                          <a:spcPct val="115000"/>
                        </a:lnSpc>
                        <a:spcAft>
                          <a:spcPts val="800"/>
                        </a:spcAft>
                        <a:buNone/>
                      </a:pPr>
                      <a:r>
                        <a:rPr lang="en-GB" sz="1600" kern="100" dirty="0" err="1">
                          <a:effectLst/>
                        </a:rPr>
                        <a:t>SparsePCA</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0.752775</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0.970235</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dirty="0">
                          <a:effectLst/>
                        </a:rPr>
                        <a:t>0.994769</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0.998021</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518264371"/>
                  </a:ext>
                </a:extLst>
              </a:tr>
              <a:tr h="443000">
                <a:tc>
                  <a:txBody>
                    <a:bodyPr/>
                    <a:lstStyle/>
                    <a:p>
                      <a:pPr marL="0" marR="0" algn="ctr">
                        <a:lnSpc>
                          <a:spcPct val="115000"/>
                        </a:lnSpc>
                        <a:spcAft>
                          <a:spcPts val="800"/>
                        </a:spcAft>
                        <a:buNone/>
                      </a:pPr>
                      <a:r>
                        <a:rPr lang="en-GB" sz="1600" kern="100">
                          <a:effectLst/>
                        </a:rPr>
                        <a:t>SpectralEmbedding</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dirty="0">
                          <a:effectLst/>
                        </a:rPr>
                        <a:t>0.611908</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0.805988</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0.857372</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0.881761</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1209182258"/>
                  </a:ext>
                </a:extLst>
              </a:tr>
              <a:tr h="390294">
                <a:tc>
                  <a:txBody>
                    <a:bodyPr/>
                    <a:lstStyle/>
                    <a:p>
                      <a:pPr marL="0" marR="0" algn="ctr">
                        <a:lnSpc>
                          <a:spcPct val="115000"/>
                        </a:lnSpc>
                        <a:spcAft>
                          <a:spcPts val="800"/>
                        </a:spcAft>
                        <a:buNone/>
                      </a:pPr>
                      <a:r>
                        <a:rPr lang="en-GB" sz="1600" kern="100">
                          <a:effectLst/>
                        </a:rPr>
                        <a:t>TruncatedSVD</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tc>
                <a:tc>
                  <a:txBody>
                    <a:bodyPr/>
                    <a:lstStyle/>
                    <a:p>
                      <a:pPr marL="0" marR="0" algn="ctr">
                        <a:lnSpc>
                          <a:spcPct val="115000"/>
                        </a:lnSpc>
                        <a:spcAft>
                          <a:spcPts val="800"/>
                        </a:spcAft>
                        <a:buNone/>
                      </a:pPr>
                      <a:r>
                        <a:rPr lang="en-GB" sz="1600" kern="100">
                          <a:effectLst/>
                        </a:rPr>
                        <a:t>0.752849</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0.970330</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a:effectLst/>
                        </a:rPr>
                        <a:t>0.994867</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tc>
                  <a:txBody>
                    <a:bodyPr/>
                    <a:lstStyle/>
                    <a:p>
                      <a:pPr marL="0" marR="0" algn="ctr">
                        <a:lnSpc>
                          <a:spcPct val="115000"/>
                        </a:lnSpc>
                        <a:spcAft>
                          <a:spcPts val="800"/>
                        </a:spcAft>
                        <a:buNone/>
                      </a:pPr>
                      <a:r>
                        <a:rPr lang="en-GB" sz="1600" kern="100" dirty="0">
                          <a:effectLst/>
                        </a:rPr>
                        <a:t>0.998119</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8874" marR="58874" marT="0" marB="0" anchor="ctr"/>
                </a:tc>
                <a:extLst>
                  <a:ext uri="{0D108BD9-81ED-4DB2-BD59-A6C34878D82A}">
                    <a16:rowId xmlns:a16="http://schemas.microsoft.com/office/drawing/2014/main" val="1596111237"/>
                  </a:ext>
                </a:extLst>
              </a:tr>
            </a:tbl>
          </a:graphicData>
        </a:graphic>
      </p:graphicFrame>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1FDEBE0-8FD3-D3B6-473D-92E2CDCC23A0}"/>
                  </a:ext>
                </a:extLst>
              </p:cNvPr>
              <p:cNvSpPr txBox="1"/>
              <p:nvPr/>
            </p:nvSpPr>
            <p:spPr>
              <a:xfrm>
                <a:off x="997527" y="1845465"/>
                <a:ext cx="6096000" cy="461665"/>
              </a:xfrm>
              <a:prstGeom prst="rect">
                <a:avLst/>
              </a:prstGeom>
              <a:noFill/>
            </p:spPr>
            <p:txBody>
              <a:bodyPr wrap="square">
                <a:spAutoFit/>
              </a:bodyPr>
              <a:lstStyle/>
              <a:p>
                <a14:m>
                  <m:oMath xmlns:m="http://schemas.openxmlformats.org/officeDocument/2006/math">
                    <m:sSup>
                      <m:sSupPr>
                        <m:ctrlPr>
                          <a:rPr lang="en-GB" sz="2400" i="1">
                            <a:solidFill>
                              <a:schemeClr val="tx1">
                                <a:lumMod val="75000"/>
                              </a:schemeClr>
                            </a:solidFill>
                            <a:latin typeface="Cambria Math" panose="02040503050406030204" pitchFamily="18" charset="0"/>
                          </a:rPr>
                        </m:ctrlPr>
                      </m:sSupPr>
                      <m:e>
                        <m:r>
                          <a:rPr lang="en-GB" sz="2400" i="1">
                            <a:solidFill>
                              <a:schemeClr val="tx1">
                                <a:lumMod val="75000"/>
                              </a:schemeClr>
                            </a:solidFill>
                            <a:latin typeface="Cambria Math" panose="02040503050406030204" pitchFamily="18" charset="0"/>
                          </a:rPr>
                          <m:t>𝑅</m:t>
                        </m:r>
                      </m:e>
                      <m:sup>
                        <m:r>
                          <a:rPr lang="en-GB" sz="2400">
                            <a:solidFill>
                              <a:schemeClr val="tx1">
                                <a:lumMod val="75000"/>
                              </a:schemeClr>
                            </a:solidFill>
                            <a:latin typeface="Cambria Math" panose="02040503050406030204" pitchFamily="18" charset="0"/>
                          </a:rPr>
                          <m:t>2</m:t>
                        </m:r>
                      </m:sup>
                    </m:sSup>
                  </m:oMath>
                </a14:m>
                <a:r>
                  <a:rPr lang="en-US" sz="2400" dirty="0">
                    <a:latin typeface="Times New Roman" panose="02020603050405020304" pitchFamily="18" charset="0"/>
                    <a:cs typeface="Times New Roman" panose="02020603050405020304" pitchFamily="18" charset="0"/>
                  </a:rPr>
                  <a:t> Score by Method and Dimension (Top-6)</a:t>
                </a:r>
                <a:endParaRPr lang="en-GB" sz="2400" dirty="0">
                  <a:latin typeface="Times New Roman" panose="02020603050405020304" pitchFamily="18" charset="0"/>
                  <a:cs typeface="Times New Roman" panose="02020603050405020304" pitchFamily="18" charset="0"/>
                </a:endParaRPr>
              </a:p>
            </p:txBody>
          </p:sp>
        </mc:Choice>
        <mc:Fallback>
          <p:sp>
            <p:nvSpPr>
              <p:cNvPr id="17" name="TextBox 16">
                <a:extLst>
                  <a:ext uri="{FF2B5EF4-FFF2-40B4-BE49-F238E27FC236}">
                    <a16:creationId xmlns:a16="http://schemas.microsoft.com/office/drawing/2014/main" id="{81FDEBE0-8FD3-D3B6-473D-92E2CDCC23A0}"/>
                  </a:ext>
                </a:extLst>
              </p:cNvPr>
              <p:cNvSpPr txBox="1">
                <a:spLocks noRot="1" noChangeAspect="1" noMove="1" noResize="1" noEditPoints="1" noAdjustHandles="1" noChangeArrowheads="1" noChangeShapeType="1" noTextEdit="1"/>
              </p:cNvSpPr>
              <p:nvPr/>
            </p:nvSpPr>
            <p:spPr>
              <a:xfrm>
                <a:off x="997527" y="1845465"/>
                <a:ext cx="6096000" cy="461665"/>
              </a:xfrm>
              <a:prstGeom prst="rect">
                <a:avLst/>
              </a:prstGeom>
              <a:blipFill>
                <a:blip r:embed="rId3"/>
                <a:stretch>
                  <a:fillRect l="-300" t="-10667" b="-30667"/>
                </a:stretch>
              </a:blipFill>
            </p:spPr>
            <p:txBody>
              <a:bodyPr/>
              <a:lstStyle/>
              <a:p>
                <a:r>
                  <a:rPr lang="en-GB">
                    <a:noFill/>
                  </a:rPr>
                  <a:t> </a:t>
                </a:r>
              </a:p>
            </p:txBody>
          </p:sp>
        </mc:Fallback>
      </mc:AlternateContent>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2399C-91E6-3BDD-190A-6727F1C3A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35F55-9545-F6F1-F7E1-2B0DE5E154AE}"/>
              </a:ext>
            </a:extLst>
          </p:cNvPr>
          <p:cNvSpPr>
            <a:spLocks noGrp="1"/>
          </p:cNvSpPr>
          <p:nvPr>
            <p:ph type="title"/>
          </p:nvPr>
        </p:nvSpPr>
        <p:spPr/>
        <p:txBody>
          <a:bodyPr rtlCol="0"/>
          <a:lstStyle/>
          <a:p>
            <a:pPr rtl="0"/>
            <a:r>
              <a:rPr lang="en-GB" dirty="0"/>
              <a:t>Tables and Figures</a:t>
            </a:r>
          </a:p>
        </p:txBody>
      </p:sp>
      <p:pic>
        <p:nvPicPr>
          <p:cNvPr id="6" name="Content Placeholder 5">
            <a:extLst>
              <a:ext uri="{FF2B5EF4-FFF2-40B4-BE49-F238E27FC236}">
                <a16:creationId xmlns:a16="http://schemas.microsoft.com/office/drawing/2014/main" id="{815AF5FB-3E84-D65B-9E67-0FA5072F0DBF}"/>
              </a:ext>
            </a:extLst>
          </p:cNvPr>
          <p:cNvPicPr>
            <a:picLocks noGrp="1" noChangeAspect="1"/>
          </p:cNvPicPr>
          <p:nvPr>
            <p:ph sz="half" idx="1"/>
          </p:nvPr>
        </p:nvPicPr>
        <p:blipFill>
          <a:blip r:embed="rId3"/>
          <a:stretch>
            <a:fillRect/>
          </a:stretch>
        </p:blipFill>
        <p:spPr>
          <a:xfrm>
            <a:off x="13855" y="1684398"/>
            <a:ext cx="5874327" cy="4273055"/>
          </a:xfrm>
          <a:prstGeom prst="rect">
            <a:avLst/>
          </a:prstGeom>
        </p:spPr>
      </p:pic>
      <p:pic>
        <p:nvPicPr>
          <p:cNvPr id="8" name="Picture 7">
            <a:extLst>
              <a:ext uri="{FF2B5EF4-FFF2-40B4-BE49-F238E27FC236}">
                <a16:creationId xmlns:a16="http://schemas.microsoft.com/office/drawing/2014/main" id="{12CB10D2-CBA8-0CC4-7C0F-16F52D6D8B60}"/>
              </a:ext>
            </a:extLst>
          </p:cNvPr>
          <p:cNvPicPr>
            <a:picLocks noChangeAspect="1"/>
          </p:cNvPicPr>
          <p:nvPr/>
        </p:nvPicPr>
        <p:blipFill>
          <a:blip r:embed="rId4"/>
          <a:stretch>
            <a:fillRect/>
          </a:stretch>
        </p:blipFill>
        <p:spPr>
          <a:xfrm>
            <a:off x="6096000" y="1684398"/>
            <a:ext cx="6096000" cy="4273055"/>
          </a:xfrm>
          <a:prstGeom prst="rect">
            <a:avLst/>
          </a:prstGeom>
        </p:spPr>
      </p:pic>
    </p:spTree>
    <p:extLst>
      <p:ext uri="{BB962C8B-B14F-4D97-AF65-F5344CB8AC3E}">
        <p14:creationId xmlns:p14="http://schemas.microsoft.com/office/powerpoint/2010/main" val="27979853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641C-A47F-6C88-80A2-09738347FE7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A6F08340-E5C7-917D-5A54-BCDBB5FD6BEF}"/>
              </a:ext>
            </a:extLst>
          </p:cNvPr>
          <p:cNvSpPr>
            <a:spLocks noGrp="1"/>
          </p:cNvSpPr>
          <p:nvPr>
            <p:ph type="title"/>
          </p:nvPr>
        </p:nvSpPr>
        <p:spPr>
          <a:xfrm>
            <a:off x="1104900" y="595744"/>
            <a:ext cx="9980682" cy="577417"/>
          </a:xfrm>
        </p:spPr>
        <p:txBody>
          <a:bodyPr rtlCol="0"/>
          <a:lstStyle/>
          <a:p>
            <a:pPr rtl="0"/>
            <a:r>
              <a:rPr lang="en-GB" dirty="0"/>
              <a:t>References</a:t>
            </a:r>
          </a:p>
        </p:txBody>
      </p:sp>
      <p:sp>
        <p:nvSpPr>
          <p:cNvPr id="14" name="Content Placeholder 13">
            <a:extLst>
              <a:ext uri="{FF2B5EF4-FFF2-40B4-BE49-F238E27FC236}">
                <a16:creationId xmlns:a16="http://schemas.microsoft.com/office/drawing/2014/main" id="{141E161F-AF20-8170-B1E4-7EEB6EDF88D3}"/>
              </a:ext>
            </a:extLst>
          </p:cNvPr>
          <p:cNvSpPr>
            <a:spLocks noGrp="1"/>
          </p:cNvSpPr>
          <p:nvPr>
            <p:ph idx="1"/>
          </p:nvPr>
        </p:nvSpPr>
        <p:spPr>
          <a:xfrm>
            <a:off x="277091" y="1399309"/>
            <a:ext cx="11613572" cy="5195455"/>
          </a:xfrm>
        </p:spPr>
        <p:txBody>
          <a:bodyPr rtlCol="0">
            <a:normAutofit lnSpcReduction="10000"/>
          </a:bodyPr>
          <a:lstStyle/>
          <a:p>
            <a:pPr algn="just">
              <a:lnSpc>
                <a:spcPct val="150000"/>
              </a:lnSpc>
              <a:buFont typeface="Wingdings" panose="05000000000000000000" pitchFamily="2" charset="2"/>
              <a:buChar char="v"/>
            </a:pPr>
            <a:r>
              <a:rPr lang="en-US" dirty="0">
                <a:solidFill>
                  <a:schemeClr val="tx1">
                    <a:lumMod val="50000"/>
                  </a:schemeClr>
                </a:solidFill>
                <a:latin typeface="Times New Roman" panose="02020603050405020304" pitchFamily="18" charset="0"/>
                <a:cs typeface="Times New Roman" panose="02020603050405020304" pitchFamily="18" charset="0"/>
              </a:rPr>
              <a:t>Gracia, A., Gonzalez, S., Robles, V., </a:t>
            </a:r>
            <a:r>
              <a:rPr lang="en-US" dirty="0" err="1">
                <a:solidFill>
                  <a:schemeClr val="tx1">
                    <a:lumMod val="50000"/>
                  </a:schemeClr>
                </a:solidFill>
                <a:latin typeface="Times New Roman" panose="02020603050405020304" pitchFamily="18" charset="0"/>
                <a:cs typeface="Times New Roman" panose="02020603050405020304" pitchFamily="18" charset="0"/>
              </a:rPr>
              <a:t>Menasalvas</a:t>
            </a:r>
            <a:r>
              <a:rPr lang="en-US" dirty="0">
                <a:solidFill>
                  <a:schemeClr val="tx1">
                    <a:lumMod val="50000"/>
                  </a:schemeClr>
                </a:solidFill>
                <a:latin typeface="Times New Roman" panose="02020603050405020304" pitchFamily="18" charset="0"/>
                <a:cs typeface="Times New Roman" panose="02020603050405020304" pitchFamily="18" charset="0"/>
              </a:rPr>
              <a:t>, E., (2014). </a:t>
            </a:r>
            <a:r>
              <a:rPr lang="en-US" i="1" dirty="0">
                <a:solidFill>
                  <a:schemeClr val="tx1">
                    <a:lumMod val="50000"/>
                  </a:schemeClr>
                </a:solidFill>
                <a:latin typeface="Times New Roman" panose="02020603050405020304" pitchFamily="18" charset="0"/>
                <a:cs typeface="Times New Roman" panose="02020603050405020304" pitchFamily="18" charset="0"/>
              </a:rPr>
              <a:t>A methodology to compare Dimensionality Reduction algorithms in terms of loss of quality</a:t>
            </a:r>
            <a:r>
              <a:rPr lang="en-US" dirty="0">
                <a:solidFill>
                  <a:schemeClr val="tx1">
                    <a:lumMod val="50000"/>
                  </a:schemeClr>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dirty="0">
                <a:solidFill>
                  <a:schemeClr val="tx1">
                    <a:lumMod val="50000"/>
                  </a:schemeClr>
                </a:solidFill>
                <a:latin typeface="Times New Roman" panose="02020603050405020304" pitchFamily="18" charset="0"/>
                <a:cs typeface="Times New Roman" panose="02020603050405020304" pitchFamily="18" charset="0"/>
              </a:rPr>
              <a:t>	http://dx.doi.org/10.1016/j.ins.2014.02.068</a:t>
            </a:r>
          </a:p>
          <a:p>
            <a:pPr algn="just">
              <a:lnSpc>
                <a:spcPct val="150000"/>
              </a:lnSpc>
              <a:buFont typeface="Wingdings" panose="05000000000000000000" pitchFamily="2" charset="2"/>
              <a:buChar char="v"/>
            </a:pPr>
            <a:r>
              <a:rPr lang="en-US" dirty="0" err="1">
                <a:solidFill>
                  <a:schemeClr val="tx1">
                    <a:lumMod val="50000"/>
                  </a:schemeClr>
                </a:solidFill>
                <a:latin typeface="Times New Roman" panose="02020603050405020304" pitchFamily="18" charset="0"/>
                <a:cs typeface="Times New Roman" panose="02020603050405020304" pitchFamily="18" charset="0"/>
              </a:rPr>
              <a:t>S.Velliangiri</a:t>
            </a:r>
            <a:r>
              <a:rPr lang="en-US" dirty="0">
                <a:solidFill>
                  <a:schemeClr val="tx1">
                    <a:lumMod val="50000"/>
                  </a:schemeClr>
                </a:solidFill>
                <a:latin typeface="Times New Roman" panose="02020603050405020304" pitchFamily="18" charset="0"/>
                <a:cs typeface="Times New Roman" panose="02020603050405020304" pitchFamily="18" charset="0"/>
              </a:rPr>
              <a:t>, </a:t>
            </a:r>
            <a:r>
              <a:rPr lang="en-US" dirty="0" err="1">
                <a:solidFill>
                  <a:schemeClr val="tx1">
                    <a:lumMod val="50000"/>
                  </a:schemeClr>
                </a:solidFill>
                <a:latin typeface="Times New Roman" panose="02020603050405020304" pitchFamily="18" charset="0"/>
                <a:cs typeface="Times New Roman" panose="02020603050405020304" pitchFamily="18" charset="0"/>
              </a:rPr>
              <a:t>S.Alagumuthukrishnan</a:t>
            </a:r>
            <a:r>
              <a:rPr lang="en-US" dirty="0">
                <a:solidFill>
                  <a:schemeClr val="tx1">
                    <a:lumMod val="50000"/>
                  </a:schemeClr>
                </a:solidFill>
                <a:latin typeface="Times New Roman" panose="02020603050405020304" pitchFamily="18" charset="0"/>
                <a:cs typeface="Times New Roman" panose="02020603050405020304" pitchFamily="18" charset="0"/>
              </a:rPr>
              <a:t>, S. Iwin, (2019</a:t>
            </a:r>
            <a:r>
              <a:rPr lang="en-US" i="1" dirty="0">
                <a:solidFill>
                  <a:schemeClr val="tx1">
                    <a:lumMod val="50000"/>
                  </a:schemeClr>
                </a:solidFill>
                <a:latin typeface="Times New Roman" panose="02020603050405020304" pitchFamily="18" charset="0"/>
                <a:cs typeface="Times New Roman" panose="02020603050405020304" pitchFamily="18" charset="0"/>
              </a:rPr>
              <a:t>). A Review of Dimensionality Reduction Techniques For Efficient Computation</a:t>
            </a:r>
            <a:r>
              <a:rPr lang="en-US" dirty="0">
                <a:solidFill>
                  <a:schemeClr val="tx1">
                    <a:lumMod val="50000"/>
                  </a:schemeClr>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dirty="0">
                <a:solidFill>
                  <a:schemeClr val="tx1">
                    <a:lumMod val="50000"/>
                  </a:schemeClr>
                </a:solidFill>
                <a:latin typeface="Times New Roman" panose="02020603050405020304" pitchFamily="18" charset="0"/>
                <a:cs typeface="Times New Roman" panose="02020603050405020304" pitchFamily="18" charset="0"/>
              </a:rPr>
              <a:t>	https://doi.org/10.1016/j.procs.2020.01.079</a:t>
            </a:r>
          </a:p>
          <a:p>
            <a:pPr algn="just">
              <a:lnSpc>
                <a:spcPct val="150000"/>
              </a:lnSpc>
              <a:buFont typeface="Wingdings" panose="05000000000000000000" pitchFamily="2" charset="2"/>
              <a:buChar char="v"/>
            </a:pPr>
            <a:r>
              <a:rPr lang="en-US" dirty="0">
                <a:solidFill>
                  <a:schemeClr val="tx1">
                    <a:lumMod val="50000"/>
                  </a:schemeClr>
                </a:solidFill>
                <a:latin typeface="Times New Roman" panose="02020603050405020304" pitchFamily="18" charset="0"/>
                <a:cs typeface="Times New Roman" panose="02020603050405020304" pitchFamily="18" charset="0"/>
              </a:rPr>
              <a:t>Rastogi, A.K., </a:t>
            </a:r>
            <a:r>
              <a:rPr lang="en-US" dirty="0" err="1">
                <a:solidFill>
                  <a:schemeClr val="tx1">
                    <a:lumMod val="50000"/>
                  </a:schemeClr>
                </a:solidFill>
                <a:latin typeface="Times New Roman" panose="02020603050405020304" pitchFamily="18" charset="0"/>
                <a:cs typeface="Times New Roman" panose="02020603050405020304" pitchFamily="18" charset="0"/>
              </a:rPr>
              <a:t>Taterh</a:t>
            </a:r>
            <a:r>
              <a:rPr lang="en-US" dirty="0">
                <a:solidFill>
                  <a:schemeClr val="tx1">
                    <a:lumMod val="50000"/>
                  </a:schemeClr>
                </a:solidFill>
                <a:latin typeface="Times New Roman" panose="02020603050405020304" pitchFamily="18" charset="0"/>
                <a:cs typeface="Times New Roman" panose="02020603050405020304" pitchFamily="18" charset="0"/>
              </a:rPr>
              <a:t>, S., Kumar, B.S., (2023). </a:t>
            </a:r>
            <a:r>
              <a:rPr lang="en-US" i="1" dirty="0">
                <a:solidFill>
                  <a:schemeClr val="tx1">
                    <a:lumMod val="50000"/>
                  </a:schemeClr>
                </a:solidFill>
                <a:latin typeface="Times New Roman" panose="02020603050405020304" pitchFamily="18" charset="0"/>
                <a:cs typeface="Times New Roman" panose="02020603050405020304" pitchFamily="18" charset="0"/>
              </a:rPr>
              <a:t>Dimensionality Reduction Algorithms in Machine Learning: A Theoretical and Experimental Comparison.</a:t>
            </a:r>
          </a:p>
          <a:p>
            <a:pPr marL="0" indent="0" algn="just">
              <a:lnSpc>
                <a:spcPct val="150000"/>
              </a:lnSpc>
              <a:buNone/>
            </a:pPr>
            <a:r>
              <a:rPr lang="en-US" dirty="0">
                <a:solidFill>
                  <a:schemeClr val="tx1">
                    <a:lumMod val="50000"/>
                  </a:schemeClr>
                </a:solidFill>
                <a:latin typeface="Times New Roman" panose="02020603050405020304" pitchFamily="18" charset="0"/>
                <a:cs typeface="Times New Roman" panose="02020603050405020304" pitchFamily="18" charset="0"/>
              </a:rPr>
              <a:t>	https://doi.org/10.3390/engproc2023059082 </a:t>
            </a:r>
          </a:p>
          <a:p>
            <a:pPr marL="0" indent="0" algn="just">
              <a:buNone/>
            </a:pPr>
            <a:endParaRPr lang="en-GB" dirty="0"/>
          </a:p>
          <a:p>
            <a:pPr marL="0" indent="0" algn="just">
              <a:buNone/>
            </a:pPr>
            <a:endParaRPr lang="en-GB" dirty="0"/>
          </a:p>
          <a:p>
            <a:pPr marL="0" indent="0" algn="just">
              <a:buNone/>
            </a:pPr>
            <a:endParaRPr lang="en-GB" dirty="0"/>
          </a:p>
        </p:txBody>
      </p:sp>
    </p:spTree>
    <p:extLst>
      <p:ext uri="{BB962C8B-B14F-4D97-AF65-F5344CB8AC3E}">
        <p14:creationId xmlns:p14="http://schemas.microsoft.com/office/powerpoint/2010/main" val="8061685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03DF2-86C3-9C51-5DAF-3774030AF552}"/>
              </a:ext>
            </a:extLst>
          </p:cNvPr>
          <p:cNvSpPr txBox="1"/>
          <p:nvPr/>
        </p:nvSpPr>
        <p:spPr>
          <a:xfrm>
            <a:off x="2653145" y="2644170"/>
            <a:ext cx="6885709" cy="1569660"/>
          </a:xfrm>
          <a:prstGeom prst="rect">
            <a:avLst/>
          </a:prstGeom>
          <a:noFill/>
        </p:spPr>
        <p:txBody>
          <a:bodyPr wrap="square">
            <a:spAutoFit/>
          </a:bodyPr>
          <a:lstStyle/>
          <a:p>
            <a:pPr algn="ctr"/>
            <a:r>
              <a:rPr lang="en-GB"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0038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50521052_TF03431380_Win32" id="{9F77B225-3BCD-41DF-83BA-1A1FCAD4280D}" vid="{1324906F-0A7A-4BF6-870A-D77CB82CE6A6}"/>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147</TotalTime>
  <Words>1602</Words>
  <Application>Microsoft Office PowerPoint</Application>
  <PresentationFormat>Widescreen</PresentationFormat>
  <Paragraphs>145</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Cambria Math</vt:lpstr>
      <vt:lpstr>Euphemia</vt:lpstr>
      <vt:lpstr>Plantagenet Cherokee</vt:lpstr>
      <vt:lpstr>Times New Roman</vt:lpstr>
      <vt:lpstr>Wingdings</vt:lpstr>
      <vt:lpstr>Academic Literature 16x9</vt:lpstr>
      <vt:lpstr>Comparative study and analysis of  dimensionality reduction techniques</vt:lpstr>
      <vt:lpstr>Introduction</vt:lpstr>
      <vt:lpstr>Introduction</vt:lpstr>
      <vt:lpstr>Problem Statement</vt:lpstr>
      <vt:lpstr>Methodology</vt:lpstr>
      <vt:lpstr>Methodology</vt:lpstr>
      <vt:lpstr>Methodology</vt:lpstr>
      <vt:lpstr>Methodology</vt:lpstr>
      <vt:lpstr>Methodology</vt:lpstr>
      <vt:lpstr>Results Obtained</vt:lpstr>
      <vt:lpstr>Results Obtained</vt:lpstr>
      <vt:lpstr>Conclusion</vt:lpstr>
      <vt:lpstr>Tables and Figures</vt:lpstr>
      <vt:lpstr>Tables and Figures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Ayanlowo</dc:creator>
  <cp:lastModifiedBy>Joshua Ayanlowo</cp:lastModifiedBy>
  <cp:revision>3</cp:revision>
  <dcterms:created xsi:type="dcterms:W3CDTF">2025-12-12T14:31:54Z</dcterms:created>
  <dcterms:modified xsi:type="dcterms:W3CDTF">2025-12-12T16:59:52Z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